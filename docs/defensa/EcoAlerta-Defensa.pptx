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1FA46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78D-4A2E-9645-98EBB341BEE8}"/>
              </c:ext>
            </c:extLst>
          </c:dPt>
          <c:dPt>
            <c:idx val="1"/>
            <c:invertIfNegative val="0"/>
            <c:bubble3D val="0"/>
            <c:spPr>
              <a:solidFill>
                <a:srgbClr val="C77F1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78D-4A2E-9645-98EBB341BEE8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78D-4A2E-9645-98EBB341BEE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978D-4A2E-9645-98EBB341BEE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630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Statements</c:v>
                </c:pt>
                <c:pt idx="1">
                  <c:v>Branches</c:v>
                </c:pt>
                <c:pt idx="2">
                  <c:v>Functions</c:v>
                </c:pt>
                <c:pt idx="3">
                  <c:v>Lines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61.52</c:v>
                </c:pt>
                <c:pt idx="1">
                  <c:v>38.909999999999997</c:v>
                </c:pt>
                <c:pt idx="2">
                  <c:v>62.4</c:v>
                </c:pt>
                <c:pt idx="3">
                  <c:v>62.92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78D-4A2E-9645-98EBB341BE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AF1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E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09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Buenos días. Soy Erardo Aldana y presento mi Trabajo de Fin de Grado: EcoAlerta, una aplicación web colaborativa para el cuidado del medio ambiente, dirigida por el profesor Sánchez Romero.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España tiene una presión medioambiental enorme: más de diez mil incendios al año y más de ciento treinta mil actuaciones del SEPRONA. Y a la vez, casi todos los hogares tienen un móvil con cámara y GPS. El problema es que los canales tradicionales no aprovechan ese flujo ni devuelven seguimiento al ciudadano que denuncia.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Analicé cinco aplicaciones cívicas de referencia. Todas cubren parte del problema, pero ninguna combina a la vez cuatro cosas: reporte geolocalizado con foto, delegación a la entidad responsable correcta —que no siempre es el ayuntamiento, puede ser SEPRONA o bomberos—, niveles de severidad, y un componente social que ayude a priorizar. Ese hueco es lo que tapa EcoAlerta.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objetivo general: diseñar, implementar y validar una PWA para el reporte geolocalizado y su delegación automatizada, con flujo de estados trazable y componente social. Se desglosa en ocho objetivos específicos, del estado del arte a la documentación reproducible y un estudio de modelo de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arquitectura son tres capas en Docker Compose. Frontend: una SPA en React 18 con Tailwind y Leaflet sobre OpenStreetMap, instalable como PWA y con soporte offline. En medio, una API REST en Node 20 con Express, documentada con Swagger. Y abajo, PostgreSQL 16 con PostGIS. Todo se levanta reproducible con un solo comando.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modelo tiene trece entidades en cuatro subsistemas: identidad y seguridad, catálogos, núcleo de incidencias e interacción social. El reto más interesante fue el rendimiento geoespacial: la consulta de incidencias en un radio se degrada muy rápido sin índice. Con ST_DWithin sobre un índice GIST, PostgreSQL descarta filas antes de calcular distancias, y mantengo las búsquedas en cinco kilómetros por debajo de 500 milisegundos, incluso con miles de incidencias.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Llevé la seguridad a un nivel cercano a producción. JWT dual: un access corto y un refresh que rota en cada uso, renovado sin que el usuario vea errores. Segundo factor TOTP, con el secreto cifrado en base de datos con AES-256, de modo que un volcado de la base no compromete el 2FA. Más rate limiting, captcha invisible de Cloudflare y audit log. Nada de esto exigía el enunciado, pero hace el sistema mucho más realista.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Desarrollé en seis sprints de una semana con Spec-Driven Development y SpecKit en el IDE Antigravity. El flujo: especifico el sprint con criterios de aceptación, el agente genera código, lo reviso, ejecuto pruebas, depuro y hago commit. El uso de IA está declarado y deja trazas auditables en el repositorio. La diferencia no la marca delegar, sino dirigir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[Mientras corre el vídeo, frases sueltas, no locutar todo] Así funciona. El ciudadano reporta desde el móvil en menos de un minuto: ubicación, categoría entre doce, severidad y foto. La incidencia aparece en el mapa, coloreada por severidad. Y desde el panel, el administrador la valida, cambia su estado y la delega a la entidad responsable, que recibe la notificación. [Si fallara el vídeo: salto a la diapositiva oculta de capturas.]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validar, una pirámide de pruebas: unitarias e integración con Jest y Supertest, y end-to-end con Playwright en tres navegadores, todo en GitHub Actions. Los resultados confirman la viabilidad: despliegue con un comando, cobertura de backend por encima del 60 por ciento, geoespacial por debajo del umbral, y todos los requisitos de prioridad alta cumplidos y respaldados por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 conclusión: de los ocho objetivos, siete están plenamente cumplidos. El octavo, la validación de usabilidad con usuarios reales, queda parcial y lo reconozco como trabajo futuro inmediato. Más allá del enunciado, el resultado es de calidad cercana a producción: integración continua, audit log, segundo factor, capacidad offline. Y el diseño es reutilizable: el modelo de datos y el patrón de delegación se trasladan con pocos cambios a dominios como seguridad ciudadana o salud pública.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Soy consciente de los límites: la cobertura de ramas se queda en el 39 por ciento, el email no se ha probado contra un servidor real, y la usabilidad con usuarios queda pendiente. Como trabajo futuro: subir cobertura, desplegar en cloud con HTTPS, una app nativa con React Native sobre la misma API, asignación automática por jurisdicción geoespacial, y clasificación de la foto por visión por computador.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Cierro con la idea que me llevo: combinar especificación, IA y revisión rigurosa es, probablemente, cómo va a trabajar buena parte de la industria. Y la diferencia no la marca delegar, sino dirigir bien. Gracias por su atención; quedo a su disposición para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852160" cy="5852160"/>
          </a:xfrm>
          <a:prstGeom prst="ellipse">
            <a:avLst/>
          </a:prstGeom>
          <a:solidFill>
            <a:srgbClr val="12693E">
              <a:alpha val="38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241280" y="3840480"/>
            <a:ext cx="4754880" cy="4754880"/>
          </a:xfrm>
          <a:prstGeom prst="ellipse">
            <a:avLst/>
          </a:prstGeom>
          <a:solidFill>
            <a:srgbClr val="1C7FE5">
              <a:alpha val="24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932688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  ·   GRADO EN INGENIERÍA INFORMÁTICA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594360" y="30632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colaborativa para propiciar el cuidado del medio ambiente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594360" y="4206240"/>
            <a:ext cx="2926080" cy="0"/>
          </a:xfrm>
          <a:prstGeom prst="line">
            <a:avLst/>
          </a:prstGeom>
          <a:noFill/>
          <a:ln w="31750">
            <a:solidFill>
              <a:srgbClr val="1FA46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59436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Erardo Aldana Pessoa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José Luis Sánchez Romero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Alicante · Escuela Politécnica Superior · Junio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078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a tiempo lo que pasa sobre el terreno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868680" y="2176272"/>
            <a:ext cx="841248" cy="841248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2395728"/>
            <a:ext cx="402336" cy="4023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063240"/>
            <a:ext cx="30266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+10.000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41248" y="370332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 forestales al año en España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41248" y="4142232"/>
            <a:ext cx="3026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MITECO, 2024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98848" y="182880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4818888" y="2176272"/>
            <a:ext cx="841248" cy="841248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4" y="2395728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73168" y="3063240"/>
            <a:ext cx="30266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+130.000</a:t>
            </a:r>
            <a:endParaRPr lang="en-US" sz="4000" dirty="0"/>
          </a:p>
        </p:txBody>
      </p:sp>
      <p:sp>
        <p:nvSpPr>
          <p:cNvPr id="17" name="Text 13"/>
          <p:cNvSpPr/>
          <p:nvPr/>
        </p:nvSpPr>
        <p:spPr>
          <a:xfrm>
            <a:off x="4791456" y="370332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actuaciones anuales del SEPRONA por infracciones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791456" y="4142232"/>
            <a:ext cx="3026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Civil, 2024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449056" y="182880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6"/>
          <p:cNvSpPr/>
          <p:nvPr/>
        </p:nvSpPr>
        <p:spPr>
          <a:xfrm>
            <a:off x="8769096" y="2176272"/>
            <a:ext cx="841248" cy="841248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552" y="2395728"/>
            <a:ext cx="402336" cy="40233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723376" y="3063240"/>
            <a:ext cx="30266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endParaRPr lang="en-US" sz="4000" dirty="0"/>
          </a:p>
        </p:txBody>
      </p:sp>
      <p:sp>
        <p:nvSpPr>
          <p:cNvPr id="23" name="Text 18"/>
          <p:cNvSpPr/>
          <p:nvPr/>
        </p:nvSpPr>
        <p:spPr>
          <a:xfrm>
            <a:off x="8741664" y="370332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hogares con Internet; +95 % con smartphone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8741664" y="4142232"/>
            <a:ext cx="3026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INE, 2023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475488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1"/>
          <p:cNvSpPr/>
          <p:nvPr/>
        </p:nvSpPr>
        <p:spPr>
          <a:xfrm>
            <a:off x="914400" y="4754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ciudadano ya tiene la herramienta en el bolsillo. </a:t>
            </a:r>
            <a:r>
              <a:rPr lang="en-US" sz="17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tradicionales (112, oficinas, formularios sin geolocalización) no aprovechan ese flujo ni devuelven seguimiento.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que ninguna aplicación cubre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904488"/>
        </p:xfrm>
        <a:graphic>
          <a:graphicData uri="http://schemas.openxmlformats.org/drawingml/2006/table">
            <a:tbl>
              <a:tblPr/>
              <a:tblGrid>
                <a:gridCol w="3776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FixMyStreet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Verde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iNaturalist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SeeClickFix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Epicollect5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EcoAlerta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 geolocalizado con foto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Enfoque medioambiental específico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Delegación a entidades responsables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de estados trazable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 social (votos, comentarios)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63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Niveles de severidad explícitos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44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269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combina todas las dimensiones a la vez. </a:t>
            </a:r>
            <a:r>
              <a:rPr lang="en-US" sz="14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hueco es el punto de partida del proyecto (objetivo 1).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481328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234440"/>
            <a:ext cx="9875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validar una PWA que facilite el reporte geolocalizado de incidencias medioambientales y su delegación automatizada a entidades responsables, con flujo de estados trazable y componente social.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749808" y="273405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49808" y="2734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16736" y="256946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el estado del arte e identificar huecos de cobertura.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37960" y="251460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6739128" y="273405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739128" y="2734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306056" y="256946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escalable en contenedores, con soporte geoespacial.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47472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749808" y="369417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749808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316736" y="352958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relacional con PostGIS y audit trail.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37960" y="347472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9"/>
          <p:cNvSpPr/>
          <p:nvPr/>
        </p:nvSpPr>
        <p:spPr>
          <a:xfrm>
            <a:off x="6739128" y="369417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739128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306056" y="352958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documentada (Swagger), con roles y rate limiting.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43484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49808" y="465429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49808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316736" y="448970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PWA mobile-first, instalable, offline, accesible (WCAG).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37960" y="443484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7"/>
          <p:cNvSpPr/>
          <p:nvPr/>
        </p:nvSpPr>
        <p:spPr>
          <a:xfrm>
            <a:off x="6739128" y="465429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8"/>
          <p:cNvSpPr/>
          <p:nvPr/>
        </p:nvSpPr>
        <p:spPr>
          <a:xfrm>
            <a:off x="6739128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306056" y="448970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real: JWT con rotación, 2FA, captcha, audit log, cifrado.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539496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31"/>
          <p:cNvSpPr/>
          <p:nvPr/>
        </p:nvSpPr>
        <p:spPr>
          <a:xfrm>
            <a:off x="749808" y="561441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749808" y="5614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16736" y="544982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pirámide de pruebas y usuarios reales.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37960" y="5394960"/>
            <a:ext cx="54589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6739128" y="5614416"/>
            <a:ext cx="420624" cy="42062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6739128" y="5614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306056" y="5449824"/>
            <a:ext cx="45445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reproducible y estudio de modelo de negocio.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stack tecnológico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234440"/>
            <a:ext cx="4160520" cy="50749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/tmp/deck/assets/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9388" y="1257300"/>
            <a:ext cx="3472224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371600"/>
            <a:ext cx="6858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1371600"/>
            <a:ext cx="109728" cy="1234440"/>
          </a:xfrm>
          <a:prstGeom prst="rect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868680" y="148132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8680" y="1874520"/>
            <a:ext cx="6355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en React 18 + Tailwind + Leaflet sobre OpenStreetMap. Instalable como PWA con soporte offline.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743200"/>
            <a:ext cx="6858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48640" y="2743200"/>
            <a:ext cx="109728" cy="1234440"/>
          </a:xfrm>
          <a:prstGeom prst="rect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868680" y="285292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8680" y="3246120"/>
            <a:ext cx="6355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en Node.js 20 + Express 4. 35 endpoints documentados con Swagger.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114800"/>
            <a:ext cx="6858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48640" y="4114800"/>
            <a:ext cx="109728" cy="1234440"/>
          </a:xfrm>
          <a:prstGeom prst="rect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868680" y="422452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8680" y="4617720"/>
            <a:ext cx="6355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PostGIS 3.4. Modelo de 13 entidades con índice espacial GIST.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822960" y="5486400"/>
            <a:ext cx="6400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sistema se levanta con un comando:   </a:t>
            </a:r>
            <a:r>
              <a:rPr lang="en-US" sz="1400" b="1" dirty="0">
                <a:solidFill>
                  <a:srgbClr val="1FA4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y rendimiento geoespacial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9436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/tmp/deck/assets/modelo-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93846"/>
            <a:ext cx="5486400" cy="44360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8704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· 13 entidades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132588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6812280" y="150876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500 ms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6995160" y="260604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Búsquedas geoespaciales en un radio de 5 km, incluso con miles de incidencias (&lt; 300 ms en local).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720840" y="384048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04164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404164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técnica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949440" y="4526280"/>
            <a:ext cx="4617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69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ST_DWithin</a:t>
            </a: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un </a:t>
            </a:r>
            <a:r>
              <a:rPr lang="en-US" sz="135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GIST</a:t>
            </a: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descarta filas antes de calcular distancias. Sustituye a ST_Distance + WHERE, que recorría toda la tabla.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cercana a producción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777240" y="1682496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37944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554480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dual con rotación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1938528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 15 min + refresh de 7 días que rota en cada uso.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37960" y="1371600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6766560" y="1682496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7944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43800" y="1554480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TOTP cifrado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543800" y="1938528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 del segundo factor cifrado en BD con AES-256.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2724912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3"/>
          <p:cNvSpPr/>
          <p:nvPr/>
        </p:nvSpPr>
        <p:spPr>
          <a:xfrm>
            <a:off x="777240" y="3035808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319125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2907792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554480" y="3291840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peticiones por IP y por usuario.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537960" y="2724912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7"/>
          <p:cNvSpPr/>
          <p:nvPr/>
        </p:nvSpPr>
        <p:spPr>
          <a:xfrm>
            <a:off x="6766560" y="3035808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3191256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543800" y="2907792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Turnstile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543800" y="3291840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Captcha invisible contra bots en registro y login.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4078224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1"/>
          <p:cNvSpPr/>
          <p:nvPr/>
        </p:nvSpPr>
        <p:spPr>
          <a:xfrm>
            <a:off x="777240" y="4389120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544568"/>
            <a:ext cx="292608" cy="29260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54480" y="4261104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de seguridad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1554480" y="4645152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trazable de acciones sensibles.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537960" y="4078224"/>
            <a:ext cx="54589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6766560" y="4389120"/>
            <a:ext cx="603504" cy="603504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4544568"/>
            <a:ext cx="292608" cy="29260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543800" y="4261104"/>
            <a:ext cx="4270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(10 rondas)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7543800" y="4645152"/>
            <a:ext cx="4270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lento con salt para las contraseñas.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exigía el enunciado: </a:t>
            </a:r>
            <a:r>
              <a:rPr lang="en-US" sz="14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añadí para acercar el sistema a un nivel de producción.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Metodología: Spec-Driven Development + 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078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sprints de una semana, con enfoque iterativo e incremental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2615184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463040" y="2212848"/>
            <a:ext cx="786384" cy="78638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1463040" y="22128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13232" y="312724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9808" y="3547872"/>
            <a:ext cx="2212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Redacto la spec del sprint con criterios de aceptación (antes de pedir nada al agente).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145536" y="2377440"/>
            <a:ext cx="2103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A463"/>
                </a:solidFill>
              </a:rPr>
              <a:t>›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374136" y="1920240"/>
            <a:ext cx="2615184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288536" y="2212848"/>
            <a:ext cx="786384" cy="78638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288536" y="22128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538728" y="312724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genera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75304" y="3547872"/>
            <a:ext cx="2212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 Antigravity genera código a partir de mi especificación.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71032" y="2377440"/>
            <a:ext cx="2103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A463"/>
                </a:solidFill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6199632" y="1920240"/>
            <a:ext cx="2615184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7114032" y="2212848"/>
            <a:ext cx="786384" cy="78638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7114032" y="22128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364224" y="312724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Reviso y pruebo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3547872"/>
            <a:ext cx="2212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Reviso, ejecuto pruebas locales y depuro lo que el agente hace mal.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96528" y="2377440"/>
            <a:ext cx="2103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A463"/>
                </a:solidFill>
              </a:rPr>
              <a:t>›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9025128" y="1920240"/>
            <a:ext cx="2615184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9939528" y="2212848"/>
            <a:ext cx="786384" cy="786384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9939528" y="22128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189720" y="312724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226296" y="3547872"/>
            <a:ext cx="2212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y CHANGELOG; todo queda auditable en Git.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3630168" cy="777240"/>
          </a:xfrm>
          <a:prstGeom prst="roundRect">
            <a:avLst>
              <a:gd name="adj" fmla="val 9412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85800" y="4754880"/>
            <a:ext cx="3355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sprints de 1 semana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279392" y="4754880"/>
            <a:ext cx="3630168" cy="777240"/>
          </a:xfrm>
          <a:prstGeom prst="roundRect">
            <a:avLst>
              <a:gd name="adj" fmla="val 9412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416552" y="4754880"/>
            <a:ext cx="3355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+ SpecKit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010144" y="4754880"/>
            <a:ext cx="3630168" cy="777240"/>
          </a:xfrm>
          <a:prstGeom prst="roundRect">
            <a:avLst>
              <a:gd name="adj" fmla="val 9412"/>
            </a:avLst>
          </a:prstGeom>
          <a:solidFill>
            <a:srgbClr val="0E3A36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8147304" y="4754880"/>
            <a:ext cx="33558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IA declarado y auditable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3F3EA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 diferencia no la marca delegar, sino dirigir bien: especificar con precisión, revisar con rigor y firmar el resultado.”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en funcionamiento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7" name="TextBox 6"/>
          <p:cNvSpPr txBox="1"/>
          <p:nvPr/>
        </p:nvSpPr>
        <p:spPr>
          <a:xfrm>
            <a:off x="2194560" y="5989320"/>
            <a:ext cx="7799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Recorrido ~95 s: reporte en móvil → mapa → panel admin → notificación</a:t>
            </a:r>
          </a:p>
        </p:txBody>
      </p:sp>
      <p:pic>
        <p:nvPicPr>
          <p:cNvPr id="9" name="Vídeo 8">
            <a:hlinkClick r:id="" action="ppaction://media"/>
            <a:extLst>
              <a:ext uri="{FF2B5EF4-FFF2-40B4-BE49-F238E27FC236}">
                <a16:creationId xmlns:a16="http://schemas.microsoft.com/office/drawing/2014/main" id="{14031A78-5EAC-4401-D8A8-E697F6DA94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62456" y="950977"/>
            <a:ext cx="9769572" cy="54955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5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en funcionamiento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5896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/tmp/deck/assets/ui-mapa-princip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77" y="1481328"/>
            <a:ext cx="3704095" cy="182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319272"/>
            <a:ext cx="5239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público con marcadores por severidad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37960" y="1371600"/>
            <a:ext cx="545896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0" name="Image 1" descr="/tmp/deck/assets/ui-crear-incid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435" y="1481328"/>
            <a:ext cx="3710018" cy="182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47688" y="3319272"/>
            <a:ext cx="5239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Reporte: categoría, severidad, foto y GPS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995928"/>
            <a:ext cx="545896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3" name="Image 2" descr="/tmp/deck/assets/ui-detal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144" y="4105656"/>
            <a:ext cx="3711959" cy="18288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8368" y="5943600"/>
            <a:ext cx="5239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Detalle: fotos, votos, comentarios e historial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537960" y="3995928"/>
            <a:ext cx="545896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6" name="Image 3" descr="/tmp/deck/assets/manual-admin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987" y="4105656"/>
            <a:ext cx="2960914" cy="18288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47688" y="5943600"/>
            <a:ext cx="5239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administración con estadísticas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evaluación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76072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del backend (Jest)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85800" y="1874520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6072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RNF-08: 70 %. Las ramas de error (branches) quedan por debajo — limitación reconocida.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37960" y="137160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739128" y="1645920"/>
            <a:ext cx="548640" cy="548640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7830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153619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reproducible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452360" y="19202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solo comando (docker compose)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537960" y="260604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6739128" y="2880360"/>
            <a:ext cx="548640" cy="548640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017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452360" y="277063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Geoespacial &lt; 500 ms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7452360" y="315468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radio de 5 km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537960" y="384048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6"/>
          <p:cNvSpPr/>
          <p:nvPr/>
        </p:nvSpPr>
        <p:spPr>
          <a:xfrm>
            <a:off x="6739128" y="4114800"/>
            <a:ext cx="548640" cy="548640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425196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00507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pruebas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452360" y="438912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Supertest y E2E con Playwright en 3 navegadores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537960" y="507492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0"/>
          <p:cNvSpPr/>
          <p:nvPr/>
        </p:nvSpPr>
        <p:spPr>
          <a:xfrm>
            <a:off x="6739128" y="5349240"/>
            <a:ext cx="548640" cy="548640"/>
          </a:xfrm>
          <a:prstGeom prst="ellipse">
            <a:avLst/>
          </a:prstGeom>
          <a:solidFill>
            <a:srgbClr val="E3F3E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88" y="548640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52360" y="523951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de prioridad alta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7452360" y="56235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cumplidos y respaldados por pruebas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3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120640" cy="5120640"/>
          </a:xfrm>
          <a:prstGeom prst="ellipse">
            <a:avLst/>
          </a:prstGeom>
          <a:solidFill>
            <a:srgbClr val="12693E">
              <a:alpha val="3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841248" y="4389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objetivos cumplidos plenamente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371600" y="2331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7 (usabilidad con usuarios reales) queda parcial y se reconoce como trabajo futuro inmediato.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593592" cy="2788920"/>
          </a:xfrm>
          <a:prstGeom prst="roundRect">
            <a:avLst>
              <a:gd name="adj" fmla="val 2623"/>
            </a:avLst>
          </a:prstGeom>
          <a:solidFill>
            <a:srgbClr val="0A2D2A"/>
          </a:solidFill>
          <a:ln w="12700">
            <a:solidFill>
              <a:srgbClr val="1C53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888236" y="3429000"/>
            <a:ext cx="914400" cy="914400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548" y="3639312"/>
            <a:ext cx="493776" cy="4937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4480560"/>
            <a:ext cx="3227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con la IA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77240" y="5074920"/>
            <a:ext cx="3136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Usada y declarada, con trazas auditables en el repositorio.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97680" y="3108960"/>
            <a:ext cx="3593592" cy="2788920"/>
          </a:xfrm>
          <a:prstGeom prst="roundRect">
            <a:avLst>
              <a:gd name="adj" fmla="val 2623"/>
            </a:avLst>
          </a:prstGeom>
          <a:solidFill>
            <a:srgbClr val="0A2D2A"/>
          </a:solidFill>
          <a:ln w="12700">
            <a:solidFill>
              <a:srgbClr val="1C53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637276" y="3429000"/>
            <a:ext cx="914400" cy="914400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7588" y="3639312"/>
            <a:ext cx="493776" cy="4937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80560" y="4480560"/>
            <a:ext cx="3227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cercana a producción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526280" y="5074920"/>
            <a:ext cx="3136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audit log, 2FA, capacidad offline y API documentada.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3108960"/>
            <a:ext cx="3593592" cy="2788920"/>
          </a:xfrm>
          <a:prstGeom prst="roundRect">
            <a:avLst>
              <a:gd name="adj" fmla="val 2623"/>
            </a:avLst>
          </a:prstGeom>
          <a:solidFill>
            <a:srgbClr val="0A2D2A"/>
          </a:solidFill>
          <a:ln w="12700">
            <a:solidFill>
              <a:srgbClr val="1C534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4"/>
          <p:cNvSpPr/>
          <p:nvPr/>
        </p:nvSpPr>
        <p:spPr>
          <a:xfrm>
            <a:off x="9386316" y="3429000"/>
            <a:ext cx="914400" cy="914400"/>
          </a:xfrm>
          <a:prstGeom prst="ellipse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6628" y="3639312"/>
            <a:ext cx="493776" cy="49377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29600" y="4480560"/>
            <a:ext cx="3227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reutilizable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275320" y="5074920"/>
            <a:ext cx="3136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patrón de delegación trasladables a otros dominios.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46304" cy="475488"/>
          </a:xfrm>
          <a:prstGeom prst="roundRect">
            <a:avLst>
              <a:gd name="adj" fmla="val 31250"/>
            </a:avLst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trabajo futuro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EcoAlerta · Trabajo Fin de Grado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725912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58968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09728" cy="4800600"/>
          </a:xfrm>
          <a:prstGeom prst="rect">
            <a:avLst/>
          </a:prstGeom>
          <a:solidFill>
            <a:srgbClr val="C77F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6868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(reconocidas)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983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ramas (branches) del 39 %, por debajo del objetivo.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y notificaciones por email sin SMTP real probado.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automático de incidencias diseñado, falta el scheduler.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carga (100 usuarios) validada por dimensionado teórico.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usabilidad con usuarios reales pendientes.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81344" y="1371600"/>
            <a:ext cx="5458968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0EBE7"/>
            </a:solidFill>
            <a:prstDash val="solid"/>
          </a:ln>
          <a:effectLst>
            <a:outerShdw blurRad="88900" dist="38100" dir="8100000" algn="bl" rotWithShape="0">
              <a:srgbClr val="0E3A36">
                <a:alpha val="1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109728" cy="4800600"/>
          </a:xfrm>
          <a:prstGeom prst="rect">
            <a:avLst/>
          </a:prstGeom>
          <a:solidFill>
            <a:srgbClr val="1FA46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501384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6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1384" y="2148840"/>
            <a:ext cx="4983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plazo: </a:t>
            </a: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&gt;80 %, despliegue cloud con HTTPS y backups, scheduler, pruebas de carga (k6).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plazo: </a:t>
            </a: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nativa con React Native; asignación automática por jurisdicción geoespacial; reputación del ciudadano; clasificación de la foto por visión por computador.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E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plazo: </a:t>
            </a:r>
            <a:r>
              <a:rPr lang="en-US" sz="1350" dirty="0">
                <a:solidFill>
                  <a:srgbClr val="16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convenios con ayuntamientos piloto, integración con gestión municipal y modelo de negocio B2G.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486400" cy="5486400"/>
          </a:xfrm>
          <a:prstGeom prst="ellipse">
            <a:avLst/>
          </a:prstGeom>
          <a:solidFill>
            <a:srgbClr val="12693E">
              <a:alpha val="34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692640" y="-2194560"/>
            <a:ext cx="5120640" cy="5120640"/>
          </a:xfrm>
          <a:prstGeom prst="ellipse">
            <a:avLst/>
          </a:prstGeom>
          <a:solidFill>
            <a:srgbClr val="1C7FE5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0972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2148840"/>
            <a:ext cx="999439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 diferencia no la marca delegar, sino dirigir bien: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 con precisión, revisar con rigor y firmar el resultado.”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997196" y="4206240"/>
            <a:ext cx="2194560" cy="0"/>
          </a:xfrm>
          <a:prstGeom prst="line">
            <a:avLst/>
          </a:prstGeom>
          <a:noFill/>
          <a:ln w="31750">
            <a:solidFill>
              <a:srgbClr val="1FA46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52578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7C8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github.com/eap59-ua/tfg-medioambiente-ua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Erardo Aldana Pessoa · EcoAlerta · TFG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2092</Words>
  <Application>Microsoft Office PowerPoint</Application>
  <PresentationFormat>Personalizado</PresentationFormat>
  <Paragraphs>229</Paragraphs>
  <Slides>14</Slides>
  <Notes>13</Notes>
  <HiddenSlides>1</HiddenSlides>
  <MMClips>1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EcoAlerta — Defensa TFG</dc:title>
  <dc:subject>PptxGenJS Presentation</dc:subject>
  <dc:creator>Erardo Aldana Pessoa</dc:creator>
  <cp:lastModifiedBy>Erardo Aldana Pessoa</cp:lastModifiedBy>
  <cp:revision>2</cp:revision>
  <dcterms:created xsi:type="dcterms:W3CDTF">2026-06-04T15:44:06Z</dcterms:created>
  <dcterms:modified xsi:type="dcterms:W3CDTF">2026-06-10T03:15:56Z</dcterms:modified>
</cp:coreProperties>
</file>