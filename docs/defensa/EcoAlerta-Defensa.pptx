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Cobertura</c:v>
                </c:pt>
              </c:strCache>
            </c:strRef>
          </c:tx>
          <c:spPr>
            <a:solidFill>
              <a:srgbClr val="1FA463"/>
            </a:solidFill>
            <a:effectLst/>
          </c:spPr>
          <c:invertIfNegative val="0"/>
          <c:dLbls>
            <c:numFmt formatCode="#,##0" sourceLinked="0"/>
            <c:txPr>
              <a:bodyPr/>
              <a:lstStyle/>
              <a:p>
                <a:pPr>
                  <a:defRPr b="1" i="0" strike="noStrike" sz="1100" u="none">
                    <a:solidFill>
                      <a:srgbClr val="16302E"/>
                    </a:solidFill>
                    <a:latin typeface="Arial"/>
                  </a:defRPr>
                </a:pPr>
              </a:p>
            </c:txPr>
            <c:showLegendKey val="0"/>
            <c:showVal val="1"/>
            <c:showCatName val="0"/>
            <c:showSerName val="0"/>
            <c:showPercent val="0"/>
            <c:showBubbleSize val="0"/>
            <c:showLeaderLines val="0"/>
          </c:dLbls>
          <c:dPt>
            <c:idx val="0"/>
            <c:invertIfNegative val="0"/>
            <c:bubble3D val="0"/>
            <c:spPr>
              <a:solidFill>
                <a:srgbClr val="1FA463"/>
              </a:solidFill>
              <a:effectLst/>
            </c:spPr>
          </c:dPt>
          <c:dPt>
            <c:idx val="1"/>
            <c:invertIfNegative val="0"/>
            <c:bubble3D val="0"/>
            <c:spPr>
              <a:solidFill>
                <a:srgbClr val="C77F12"/>
              </a:solidFill>
              <a:effectLst/>
            </c:spPr>
          </c:dPt>
          <c:dPt>
            <c:idx val="2"/>
            <c:invertIfNegative val="0"/>
            <c:bubble3D val="0"/>
            <c:spPr>
              <a:solidFill>
                <a:srgbClr val="1FA463"/>
              </a:solidFill>
              <a:effectLst/>
            </c:spPr>
          </c:dPt>
          <c:dPt>
            <c:idx val="3"/>
            <c:invertIfNegative val="0"/>
            <c:bubble3D val="0"/>
            <c:spPr>
              <a:solidFill>
                <a:srgbClr val="1FA463"/>
              </a:solidFill>
              <a:effectLst/>
            </c:spPr>
          </c:dPt>
          <c:cat>
            <c:multiLvlStrRef>
              <c:f>Sheet1!$A$2:$A$5</c:f>
              <c:multiLvlStrCache>
                <c:ptCount val="4"/>
                <c:lvl>
                  <c:pt idx="0">
                    <c:v>Statements</c:v>
                  </c:pt>
                  <c:pt idx="1">
                    <c:v>Branches</c:v>
                  </c:pt>
                  <c:pt idx="2">
                    <c:v>Functions</c:v>
                  </c:pt>
                  <c:pt idx="3">
                    <c:v>Lines</c:v>
                  </c:pt>
                </c:lvl>
              </c:multiLvlStrCache>
            </c:multiLvlStrRef>
          </c:cat>
          <c:val>
            <c:numRef>
              <c:f>Sheet1!$B$2:$B$5</c:f>
              <c:numCache>
                <c:formatCode>General</c:formatCode>
                <c:ptCount val="4"/>
                <c:pt idx="0">
                  <c:v>61.52</c:v>
                </c:pt>
                <c:pt idx="1">
                  <c:v>38.91</c:v>
                </c:pt>
                <c:pt idx="2">
                  <c:v>62.4</c:v>
                </c:pt>
                <c:pt idx="3">
                  <c:v>62.92</c:v>
                </c:pt>
              </c:numCache>
            </c:numRef>
          </c:val>
        </c:ser>
        <c:dLbls>
          <c:numFmt formatCode="#,##0" sourceLinked="0"/>
          <c:txPr>
            <a:bodyPr/>
            <a:lstStyle/>
            <a:p>
              <a:pPr>
                <a:defRPr b="1" i="0" strike="noStrike" sz="1100" u="none">
                  <a:solidFill>
                    <a:srgbClr val="1630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6E6B"/>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AF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E6E6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Erardo Aldana y presento mi Trabajo de Fin de Grado: EcoAlerta, una aplicación web colaborativa para el cuidado del medio ambiente, dirigida por el profesor Sánchez Romero.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España vive una década complicada en lo medioambiental: más de diez mil incendios al año, el SEPRONA tramita más de ciento treinta mil actuaciones. A la vez, casi todos los hogares tienen un móvil con cámara y GPS. El problema es que los canales tradicionales no aprovechan ese flujo ni devuelven seguimiento al ciudadano que denuncia.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Analicé cinco aplicaciones cívicas de referencia. Todas cubren parte del problema, pero ninguna combina a la vez cuatro cosas: reporte geolocalizado con foto, delegación a la entidad responsable correcta —que no siempre es el ayuntamiento, puede ser SEPRONA o bomberos—, niveles de severidad ligados al impacto, y un componente social que ayude a priorizar. Ese hueco es lo que tapa EcoAlerta.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objetivo general: diseñar, implementar y validar una PWA que facilite el reporte geolocalizado y su delegación automatizada, con flujo de estados trazable y componente social. Se desglosa en ocho objetivos específicos, desde el análisis del estado del arte hasta la documentación reproducible y un estudio de modelo de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son tres capas desplegadas con Docker Compose. En el frontend, una SPA en React 18 con Tailwind y Leaflet sobre OpenStreetMap, instalable como PWA y con soporte offline. En medio, una API REST en Node 20 con Express, 35 endpoints documentados con Swagger. Y abajo, PostgreSQL 16 con PostGIS. Todo el sistema se levanta reproducible con un solo comando.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tiene trece entidades: incidencias, fotos, comentarios, votos, seguimientos, historial de estados, notificaciones y un audit log de seguridad. El reto técnico más interesante fue el rendimiento geoespacial: la consulta de incidencias en un radio se degrada muy rápido sin índice. Usando ST_DWithin con un índice GIST, PostgreSQL descarta filas antes de calcular distancias, y mantengo las búsquedas en un radio de cinco kilómetros por debajo de 500 milisegundos. De hecho el agente de IA proponía ST_Distance con WHERE, que es ineficiente; lo cambié tras revisar la documentación de PostGIS.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Quise llevar la seguridad a un nivel cercano a producción. JWT dual: access corto de quince minutos y refresh de siete días que rota en cada uso. Segundo factor TOTP, con el secreto cifrado en base de datos con AES-256, de modo que un volcado de la base no compromete el 2FA. Además rate limiting, captcha invisible de Cloudflare, audit log y bcrypt. Nada de esto era obligatorio, pero hace el sistema mucho más realista.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Desarrollé en seis sprints de una semana aplicando Spec-Driven Development con SpecKit en el IDE Google Antigravity. Primero escribo la especificación del sprint con criterios de aceptación, después el agente genera código a partir de ella, lo reviso, ejecuto las pruebas, depuro lo que hace mal, y hago commit. El uso de IA está declarado de forma explícita y deja trazas auditables. La diferencia no la marca delegar, sino dirigir bien.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ve en funcionamiento. El mapa público, centrado en Alicante, con marcadores coloreados por severidad. El ciudadano reporta en menos de un minuto: ubicación, categoría entre doce opciones, severidad y foto. En el detalle se ven fotos, votos, comentarios e historial de estados. Y el administrador gestiona desde un panel con estadísticas y delega cada incidencia a la entidad responsable.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validar, una pirámide de pruebas: unitarias e integración con Jest y Supertest, y end-to-end con Playwright sobre los tres flujos principales en tres navegadores, todo en GitHub Actions. Los resultados confirman la viabilidad: despliegue con un comando, cobertura del backend por encima del 60 % —salvo las ramas de error, que reconozco como limitación—, búsquedas geoespaciales por debajo del umbral, y todos los requisitos funcionales de prioridad alta cumplidos.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conclusión: de los ocho objetivos, siete están plenamente cumplidos. El octavo, la validación de usabilidad con usuarios reales, queda parcial y lo reconozco como trabajo futuro inmediato. Más allá del enunciado, el resultado es de calidad cercana a producción: integración continua, audit log, segundo factor, capacidad offline. Y el diseño es reutilizable: el modelo de datos y el patrón de delegación se trasladan con pocos cambios a dominios como seguridad ciudadana o salud pública.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Soy consciente de los límites: la cobertura de ramas se queda en el 39 %, el envío de email no se ha probado contra un servidor real, y la usabilidad con usuarios reales queda pendiente. Como trabajo futuro veo subir cobertura, desplegar en cloud con HTTPS, una app nativa con React Native, asignación automática por intersección geoespacial con la jurisdicción, y clasificación automática de la foto por visión por computador.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con la idea que me llevo del proyecto: combinar especificación, IA y revisión rigurosa es, probablemente, cómo va a trabajar buena parte de la industria. Y la diferencia no la marca delegar, sino dirigir bien. Gracias por su atención; quedo a su disposición para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3A36"/>
        </a:solidFill>
      </p:bgPr>
    </p:bg>
    <p:spTree>
      <p:nvGrpSpPr>
        <p:cNvPr id="1" name=""/>
        <p:cNvGrpSpPr/>
        <p:nvPr/>
      </p:nvGrpSpPr>
      <p:grpSpPr>
        <a:xfrm>
          <a:off x="0" y="0"/>
          <a:ext cx="0" cy="0"/>
          <a:chOff x="0" y="0"/>
          <a:chExt cx="0" cy="0"/>
        </a:xfrm>
      </p:grpSpPr>
      <p:sp>
        <p:nvSpPr>
          <p:cNvPr id="2" name="Shape 0"/>
          <p:cNvSpPr/>
          <p:nvPr/>
        </p:nvSpPr>
        <p:spPr>
          <a:xfrm>
            <a:off x="8869680" y="-2011680"/>
            <a:ext cx="5852160" cy="5852160"/>
          </a:xfrm>
          <a:prstGeom prst="ellipse">
            <a:avLst/>
          </a:prstGeom>
          <a:solidFill>
            <a:srgbClr val="12693E">
              <a:alpha val="38000"/>
            </a:srgbClr>
          </a:solidFill>
          <a:ln/>
        </p:spPr>
      </p:sp>
      <p:sp>
        <p:nvSpPr>
          <p:cNvPr id="3" name="Shape 1"/>
          <p:cNvSpPr/>
          <p:nvPr/>
        </p:nvSpPr>
        <p:spPr>
          <a:xfrm>
            <a:off x="10241280" y="3840480"/>
            <a:ext cx="4754880" cy="4754880"/>
          </a:xfrm>
          <a:prstGeom prst="ellipse">
            <a:avLst/>
          </a:prstGeom>
          <a:solidFill>
            <a:srgbClr val="1C7FE5">
              <a:alpha val="24000"/>
            </a:srgbClr>
          </a:solidFill>
          <a:ln/>
        </p:spPr>
      </p:sp>
      <p:pic>
        <p:nvPicPr>
          <p:cNvPr id="4" name="Image 0" descr="preencoded.png">    </p:cNvPr>
          <p:cNvPicPr>
            <a:picLocks noChangeAspect="1"/>
          </p:cNvPicPr>
          <p:nvPr/>
        </p:nvPicPr>
        <p:blipFill>
          <a:blip r:embed="rId1"/>
          <a:stretch>
            <a:fillRect/>
          </a:stretch>
        </p:blipFill>
        <p:spPr>
          <a:xfrm>
            <a:off x="566928" y="932688"/>
            <a:ext cx="457200" cy="457200"/>
          </a:xfrm>
          <a:prstGeom prst="rect">
            <a:avLst/>
          </a:prstGeom>
        </p:spPr>
      </p:pic>
      <p:sp>
        <p:nvSpPr>
          <p:cNvPr id="5" name="Text 2"/>
          <p:cNvSpPr/>
          <p:nvPr/>
        </p:nvSpPr>
        <p:spPr>
          <a:xfrm>
            <a:off x="1143000" y="960120"/>
            <a:ext cx="10058400" cy="365760"/>
          </a:xfrm>
          <a:prstGeom prst="rect">
            <a:avLst/>
          </a:prstGeom>
          <a:noFill/>
          <a:ln/>
        </p:spPr>
        <p:txBody>
          <a:bodyPr wrap="square" rtlCol="0" anchor="ctr"/>
          <a:lstStyle/>
          <a:p>
            <a:pPr indent="0" marL="0">
              <a:buNone/>
            </a:pPr>
            <a:r>
              <a:rPr lang="en-US" sz="1300" spc="200" kern="0" dirty="0">
                <a:solidFill>
                  <a:srgbClr val="CFE6DE"/>
                </a:solidFill>
                <a:latin typeface="Calibri" pitchFamily="34" charset="0"/>
                <a:ea typeface="Calibri" pitchFamily="34" charset="-122"/>
                <a:cs typeface="Calibri" pitchFamily="34" charset="-120"/>
              </a:rPr>
              <a:t>TRABAJO FIN DE GRADO   ·   GRADO EN INGENIERÍA INFORMÁTICA</a:t>
            </a:r>
            <a:endParaRPr lang="en-US" sz="1300" dirty="0"/>
          </a:p>
        </p:txBody>
      </p:sp>
      <p:sp>
        <p:nvSpPr>
          <p:cNvPr id="6" name="Text 3"/>
          <p:cNvSpPr/>
          <p:nvPr/>
        </p:nvSpPr>
        <p:spPr>
          <a:xfrm>
            <a:off x="548640" y="1691640"/>
            <a:ext cx="10058400" cy="1280160"/>
          </a:xfrm>
          <a:prstGeom prst="rect">
            <a:avLst/>
          </a:prstGeom>
          <a:noFill/>
          <a:ln/>
        </p:spPr>
        <p:txBody>
          <a:bodyPr wrap="square" rtlCol="0" anchor="ctr"/>
          <a:lstStyle/>
          <a:p>
            <a:pPr indent="0" marL="0">
              <a:buNone/>
            </a:pPr>
            <a:r>
              <a:rPr lang="en-US" sz="6600" b="1" dirty="0">
                <a:solidFill>
                  <a:srgbClr val="FFFFFF"/>
                </a:solidFill>
                <a:latin typeface="Calibri" pitchFamily="34" charset="0"/>
                <a:ea typeface="Calibri" pitchFamily="34" charset="-122"/>
                <a:cs typeface="Calibri" pitchFamily="34" charset="-120"/>
              </a:rPr>
              <a:t>EcoAlerta</a:t>
            </a:r>
            <a:endParaRPr lang="en-US" sz="6600" dirty="0"/>
          </a:p>
        </p:txBody>
      </p:sp>
      <p:sp>
        <p:nvSpPr>
          <p:cNvPr id="7" name="Text 4"/>
          <p:cNvSpPr/>
          <p:nvPr/>
        </p:nvSpPr>
        <p:spPr>
          <a:xfrm>
            <a:off x="594360" y="3063240"/>
            <a:ext cx="8412480" cy="914400"/>
          </a:xfrm>
          <a:prstGeom prst="rect">
            <a:avLst/>
          </a:prstGeom>
          <a:noFill/>
          <a:ln/>
        </p:spPr>
        <p:txBody>
          <a:bodyPr wrap="square" rtlCol="0" anchor="ctr"/>
          <a:lstStyle/>
          <a:p>
            <a:pPr indent="0" marL="0">
              <a:buNone/>
            </a:pPr>
            <a:r>
              <a:rPr lang="en-US" sz="2300" dirty="0">
                <a:solidFill>
                  <a:srgbClr val="CFE6DE"/>
                </a:solidFill>
                <a:latin typeface="Calibri" pitchFamily="34" charset="0"/>
                <a:ea typeface="Calibri" pitchFamily="34" charset="-122"/>
                <a:cs typeface="Calibri" pitchFamily="34" charset="-120"/>
              </a:rPr>
              <a:t>Aplicación colaborativa para propiciar el cuidado del medio ambiente</a:t>
            </a:r>
            <a:endParaRPr lang="en-US" sz="2300" dirty="0"/>
          </a:p>
        </p:txBody>
      </p:sp>
      <p:sp>
        <p:nvSpPr>
          <p:cNvPr id="8" name="Shape 5"/>
          <p:cNvSpPr/>
          <p:nvPr/>
        </p:nvSpPr>
        <p:spPr>
          <a:xfrm>
            <a:off x="594360" y="4206240"/>
            <a:ext cx="2926080" cy="0"/>
          </a:xfrm>
          <a:prstGeom prst="line">
            <a:avLst/>
          </a:prstGeom>
          <a:noFill/>
          <a:ln w="31750">
            <a:solidFill>
              <a:srgbClr val="1FA463"/>
            </a:solidFill>
            <a:prstDash val="solid"/>
          </a:ln>
        </p:spPr>
      </p:sp>
      <p:sp>
        <p:nvSpPr>
          <p:cNvPr id="9" name="Text 6"/>
          <p:cNvSpPr/>
          <p:nvPr/>
        </p:nvSpPr>
        <p:spPr>
          <a:xfrm>
            <a:off x="594360" y="4572000"/>
            <a:ext cx="7315200" cy="365760"/>
          </a:xfrm>
          <a:prstGeom prst="rect">
            <a:avLst/>
          </a:prstGeom>
          <a:noFill/>
          <a:ln/>
        </p:spPr>
        <p:txBody>
          <a:bodyPr wrap="square" rtlCol="0" anchor="ctr"/>
          <a:lstStyle/>
          <a:p>
            <a:pPr indent="0" marL="0">
              <a:buNone/>
            </a:pPr>
            <a:r>
              <a:rPr lang="en-US" sz="1600" dirty="0">
                <a:solidFill>
                  <a:srgbClr val="CFE6DE"/>
                </a:solidFill>
                <a:latin typeface="Calibri" pitchFamily="34" charset="0"/>
                <a:ea typeface="Calibri" pitchFamily="34" charset="-122"/>
                <a:cs typeface="Calibri" pitchFamily="34" charset="-120"/>
              </a:rPr>
              <a:t>Autor:  </a:t>
            </a:r>
            <a:pPr indent="0" marL="0">
              <a:buNone/>
            </a:pPr>
            <a:r>
              <a:rPr lang="en-US" sz="1600" b="1" dirty="0">
                <a:solidFill>
                  <a:srgbClr val="FFFFFF"/>
                </a:solidFill>
                <a:latin typeface="Calibri" pitchFamily="34" charset="0"/>
                <a:ea typeface="Calibri" pitchFamily="34" charset="-122"/>
                <a:cs typeface="Calibri" pitchFamily="34" charset="-120"/>
              </a:rPr>
              <a:t>Erardo Aldana Pessoa</a:t>
            </a:r>
            <a:endParaRPr lang="en-US" sz="1600" dirty="0"/>
          </a:p>
        </p:txBody>
      </p:sp>
      <p:sp>
        <p:nvSpPr>
          <p:cNvPr id="10" name="Text 7"/>
          <p:cNvSpPr/>
          <p:nvPr/>
        </p:nvSpPr>
        <p:spPr>
          <a:xfrm>
            <a:off x="594360" y="5029200"/>
            <a:ext cx="8229600" cy="365760"/>
          </a:xfrm>
          <a:prstGeom prst="rect">
            <a:avLst/>
          </a:prstGeom>
          <a:noFill/>
          <a:ln/>
        </p:spPr>
        <p:txBody>
          <a:bodyPr wrap="square" rtlCol="0" anchor="ctr"/>
          <a:lstStyle/>
          <a:p>
            <a:pPr indent="0" marL="0">
              <a:buNone/>
            </a:pPr>
            <a:r>
              <a:rPr lang="en-US" sz="1600" dirty="0">
                <a:solidFill>
                  <a:srgbClr val="CFE6DE"/>
                </a:solidFill>
                <a:latin typeface="Calibri" pitchFamily="34" charset="0"/>
                <a:ea typeface="Calibri" pitchFamily="34" charset="-122"/>
                <a:cs typeface="Calibri" pitchFamily="34" charset="-120"/>
              </a:rPr>
              <a:t>Tutor:  </a:t>
            </a:r>
            <a:pPr indent="0" marL="0">
              <a:buNone/>
            </a:pPr>
            <a:r>
              <a:rPr lang="en-US" sz="1600" b="1" dirty="0">
                <a:solidFill>
                  <a:srgbClr val="FFFFFF"/>
                </a:solidFill>
                <a:latin typeface="Calibri" pitchFamily="34" charset="0"/>
                <a:ea typeface="Calibri" pitchFamily="34" charset="-122"/>
                <a:cs typeface="Calibri" pitchFamily="34" charset="-120"/>
              </a:rPr>
              <a:t>Dr. José Luis Sánchez Romero</a:t>
            </a:r>
            <a:endParaRPr lang="en-US" sz="1600" dirty="0"/>
          </a:p>
        </p:txBody>
      </p:sp>
      <p:sp>
        <p:nvSpPr>
          <p:cNvPr id="11" name="Text 8"/>
          <p:cNvSpPr/>
          <p:nvPr/>
        </p:nvSpPr>
        <p:spPr>
          <a:xfrm>
            <a:off x="594360" y="5943600"/>
            <a:ext cx="10058400" cy="365760"/>
          </a:xfrm>
          <a:prstGeom prst="rect">
            <a:avLst/>
          </a:prstGeom>
          <a:noFill/>
          <a:ln/>
        </p:spPr>
        <p:txBody>
          <a:bodyPr wrap="square" rtlCol="0" anchor="ctr"/>
          <a:lstStyle/>
          <a:p>
            <a:pPr indent="0" marL="0">
              <a:buNone/>
            </a:pPr>
            <a:r>
              <a:rPr lang="en-US" sz="1300" dirty="0">
                <a:solidFill>
                  <a:srgbClr val="CFE6DE"/>
                </a:solidFill>
                <a:latin typeface="Calibri" pitchFamily="34" charset="0"/>
                <a:ea typeface="Calibri" pitchFamily="34" charset="-122"/>
                <a:cs typeface="Calibri" pitchFamily="34" charset="-120"/>
              </a:rPr>
              <a:t>Universidad de Alicante · Escuela Politécnica Superior · Junio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8F6"/>
        </a:solidFill>
      </p:bgPr>
    </p:bg>
    <p:spTree>
      <p:nvGrpSpPr>
        <p:cNvPr id="1" name=""/>
        <p:cNvGrpSpPr/>
        <p:nvPr/>
      </p:nvGrpSpPr>
      <p:grpSpPr>
        <a:xfrm>
          <a:off x="0" y="0"/>
          <a:ext cx="0" cy="0"/>
          <a:chOff x="0" y="0"/>
          <a:chExt cx="0" cy="0"/>
        </a:xfrm>
      </p:grpSpPr>
      <p:sp>
        <p:nvSpPr>
          <p:cNvPr id="2" name="Shape 0"/>
          <p:cNvSpPr/>
          <p:nvPr/>
        </p:nvSpPr>
        <p:spPr>
          <a:xfrm>
            <a:off x="548640" y="475488"/>
            <a:ext cx="146304" cy="475488"/>
          </a:xfrm>
          <a:prstGeom prst="roundRect">
            <a:avLst>
              <a:gd name="adj" fmla="val 31250"/>
            </a:avLst>
          </a:prstGeom>
          <a:solidFill>
            <a:srgbClr val="1FA463"/>
          </a:solidFill>
          <a:ln/>
        </p:spPr>
      </p:sp>
      <p:sp>
        <p:nvSpPr>
          <p:cNvPr id="3" name="Text 1"/>
          <p:cNvSpPr/>
          <p:nvPr/>
        </p:nvSpPr>
        <p:spPr>
          <a:xfrm>
            <a:off x="841248" y="411480"/>
            <a:ext cx="10789920" cy="640080"/>
          </a:xfrm>
          <a:prstGeom prst="rect">
            <a:avLst/>
          </a:prstGeom>
          <a:noFill/>
          <a:ln/>
        </p:spPr>
        <p:txBody>
          <a:bodyPr wrap="square" lIns="0" tIns="0" rIns="0" bIns="0" rtlCol="0" anchor="ctr"/>
          <a:lstStyle/>
          <a:p>
            <a:pPr indent="0" marL="0">
              <a:buNone/>
            </a:pPr>
            <a:r>
              <a:rPr lang="en-US" sz="2800" b="1" dirty="0">
                <a:solidFill>
                  <a:srgbClr val="0E3A36"/>
                </a:solidFill>
                <a:latin typeface="Calibri" pitchFamily="34" charset="0"/>
                <a:ea typeface="Calibri" pitchFamily="34" charset="-122"/>
                <a:cs typeface="Calibri" pitchFamily="34" charset="-120"/>
              </a:rPr>
              <a:t>El problema</a:t>
            </a:r>
            <a:endParaRPr lang="en-US" sz="2800" dirty="0"/>
          </a:p>
        </p:txBody>
      </p:sp>
      <p:sp>
        <p:nvSpPr>
          <p:cNvPr id="4" name="Text 2"/>
          <p:cNvSpPr/>
          <p:nvPr/>
        </p:nvSpPr>
        <p:spPr>
          <a:xfrm>
            <a:off x="548640" y="6437376"/>
            <a:ext cx="5486400" cy="274320"/>
          </a:xfrm>
          <a:prstGeom prst="rect">
            <a:avLst/>
          </a:prstGeom>
          <a:noFill/>
          <a:ln/>
        </p:spPr>
        <p:txBody>
          <a:bodyPr wrap="square" rtlCol="0" anchor="ctr"/>
          <a:lstStyle/>
          <a:p>
            <a:pPr indent="0" marL="0">
              <a:buNone/>
            </a:pPr>
            <a:r>
              <a:rPr lang="en-US" sz="900" dirty="0">
                <a:solidFill>
                  <a:srgbClr val="5E6E6B"/>
                </a:solidFill>
                <a:latin typeface="Calibri" pitchFamily="34" charset="0"/>
                <a:ea typeface="Calibri" pitchFamily="34" charset="-122"/>
                <a:cs typeface="Calibri" pitchFamily="34" charset="-120"/>
              </a:rPr>
              <a:t>EcoAlerta · Trabajo Fin de Grado</a:t>
            </a:r>
            <a:endParaRPr lang="en-US" sz="900" dirty="0"/>
          </a:p>
        </p:txBody>
      </p:sp>
      <p:sp>
        <p:nvSpPr>
          <p:cNvPr id="5" name="Text 3"/>
          <p:cNvSpPr/>
          <p:nvPr/>
        </p:nvSpPr>
        <p:spPr>
          <a:xfrm>
            <a:off x="10725912" y="6437376"/>
            <a:ext cx="914400" cy="274320"/>
          </a:xfrm>
          <a:prstGeom prst="rect">
            <a:avLst/>
          </a:prstGeom>
          <a:noFill/>
          <a:ln/>
        </p:spPr>
        <p:txBody>
          <a:bodyPr wrap="square" rtlCol="0" anchor="ctr"/>
          <a:lstStyle/>
          <a:p>
            <a:pPr algn="r" indent="0" marL="0">
              <a:buNone/>
            </a:pPr>
            <a:r>
              <a:rPr lang="en-US" sz="900" dirty="0">
                <a:solidFill>
                  <a:srgbClr val="5E6E6B"/>
                </a:solidFill>
                <a:latin typeface="Calibri" pitchFamily="34" charset="0"/>
                <a:ea typeface="Calibri" pitchFamily="34" charset="-122"/>
                <a:cs typeface="Calibri" pitchFamily="34" charset="-120"/>
              </a:rPr>
              <a:t>2 / 13</a:t>
            </a:r>
            <a:endParaRPr lang="en-US" sz="900" dirty="0"/>
          </a:p>
        </p:txBody>
      </p:sp>
      <p:sp>
        <p:nvSpPr>
          <p:cNvPr id="6" name="Text 4"/>
          <p:cNvSpPr/>
          <p:nvPr/>
        </p:nvSpPr>
        <p:spPr>
          <a:xfrm>
            <a:off x="841248" y="1078992"/>
            <a:ext cx="10515600" cy="365760"/>
          </a:xfrm>
          <a:prstGeom prst="rect">
            <a:avLst/>
          </a:prstGeom>
          <a:noFill/>
          <a:ln/>
        </p:spPr>
        <p:txBody>
          <a:bodyPr wrap="square" rtlCol="0" anchor="ctr"/>
          <a:lstStyle/>
          <a:p>
            <a:pPr indent="0" marL="0">
              <a:buNone/>
            </a:pPr>
            <a:r>
              <a:rPr lang="en-US" sz="1600" dirty="0">
                <a:solidFill>
                  <a:srgbClr val="5E6E6B"/>
                </a:solidFill>
                <a:latin typeface="Calibri" pitchFamily="34" charset="0"/>
                <a:ea typeface="Calibri" pitchFamily="34" charset="-122"/>
                <a:cs typeface="Calibri" pitchFamily="34" charset="-120"/>
              </a:rPr>
              <a:t>Detectar a tiempo lo que pasa sobre el terreno</a:t>
            </a:r>
            <a:endParaRPr lang="en-US" sz="1600" dirty="0"/>
          </a:p>
        </p:txBody>
      </p:sp>
      <p:sp>
        <p:nvSpPr>
          <p:cNvPr id="7" name="Shape 5"/>
          <p:cNvSpPr/>
          <p:nvPr/>
        </p:nvSpPr>
        <p:spPr>
          <a:xfrm>
            <a:off x="548640" y="1828800"/>
            <a:ext cx="3575304" cy="2606040"/>
          </a:xfrm>
          <a:prstGeom prst="roundRect">
            <a:avLst>
              <a:gd name="adj" fmla="val 2807"/>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8" name="Shape 6"/>
          <p:cNvSpPr/>
          <p:nvPr/>
        </p:nvSpPr>
        <p:spPr>
          <a:xfrm>
            <a:off x="868680" y="2176272"/>
            <a:ext cx="841248" cy="841248"/>
          </a:xfrm>
          <a:prstGeom prst="ellipse">
            <a:avLst/>
          </a:prstGeom>
          <a:solidFill>
            <a:srgbClr val="1FA463"/>
          </a:solidFill>
          <a:ln/>
        </p:spPr>
      </p:sp>
      <p:pic>
        <p:nvPicPr>
          <p:cNvPr id="9" name="Image 0" descr="preencoded.png">    </p:cNvPr>
          <p:cNvPicPr>
            <a:picLocks noChangeAspect="1"/>
          </p:cNvPicPr>
          <p:nvPr/>
        </p:nvPicPr>
        <p:blipFill>
          <a:blip r:embed="rId1"/>
          <a:stretch>
            <a:fillRect/>
          </a:stretch>
        </p:blipFill>
        <p:spPr>
          <a:xfrm>
            <a:off x="1088136" y="2395728"/>
            <a:ext cx="402336" cy="402336"/>
          </a:xfrm>
          <a:prstGeom prst="rect">
            <a:avLst/>
          </a:prstGeom>
        </p:spPr>
      </p:pic>
      <p:sp>
        <p:nvSpPr>
          <p:cNvPr id="10" name="Text 7"/>
          <p:cNvSpPr/>
          <p:nvPr/>
        </p:nvSpPr>
        <p:spPr>
          <a:xfrm>
            <a:off x="822960" y="3063240"/>
            <a:ext cx="3026664" cy="685800"/>
          </a:xfrm>
          <a:prstGeom prst="rect">
            <a:avLst/>
          </a:prstGeom>
          <a:noFill/>
          <a:ln/>
        </p:spPr>
        <p:txBody>
          <a:bodyPr wrap="square" rtlCol="0" anchor="ctr"/>
          <a:lstStyle/>
          <a:p>
            <a:pPr indent="0" marL="0">
              <a:buNone/>
            </a:pPr>
            <a:r>
              <a:rPr lang="en-US" sz="4000" b="1" dirty="0">
                <a:solidFill>
                  <a:srgbClr val="12693E"/>
                </a:solidFill>
                <a:latin typeface="Calibri" pitchFamily="34" charset="0"/>
                <a:ea typeface="Calibri" pitchFamily="34" charset="-122"/>
                <a:cs typeface="Calibri" pitchFamily="34" charset="-120"/>
              </a:rPr>
              <a:t>+10.000</a:t>
            </a:r>
            <a:endParaRPr lang="en-US" sz="4000" dirty="0"/>
          </a:p>
        </p:txBody>
      </p:sp>
      <p:sp>
        <p:nvSpPr>
          <p:cNvPr id="11" name="Text 8"/>
          <p:cNvSpPr/>
          <p:nvPr/>
        </p:nvSpPr>
        <p:spPr>
          <a:xfrm>
            <a:off x="841248" y="3703320"/>
            <a:ext cx="3026664" cy="548640"/>
          </a:xfrm>
          <a:prstGeom prst="rect">
            <a:avLst/>
          </a:prstGeom>
          <a:noFill/>
          <a:ln/>
        </p:spPr>
        <p:txBody>
          <a:bodyPr wrap="square" rtlCol="0" anchor="ctr"/>
          <a:lstStyle/>
          <a:p>
            <a:pPr indent="0" marL="0">
              <a:buNone/>
            </a:pPr>
            <a:r>
              <a:rPr lang="en-US" sz="1350" dirty="0">
                <a:solidFill>
                  <a:srgbClr val="16302E"/>
                </a:solidFill>
                <a:latin typeface="Calibri" pitchFamily="34" charset="0"/>
                <a:ea typeface="Calibri" pitchFamily="34" charset="-122"/>
                <a:cs typeface="Calibri" pitchFamily="34" charset="-120"/>
              </a:rPr>
              <a:t>incendios forestales al año en España</a:t>
            </a:r>
            <a:endParaRPr lang="en-US" sz="1350" dirty="0"/>
          </a:p>
        </p:txBody>
      </p:sp>
      <p:sp>
        <p:nvSpPr>
          <p:cNvPr id="12" name="Text 9"/>
          <p:cNvSpPr/>
          <p:nvPr/>
        </p:nvSpPr>
        <p:spPr>
          <a:xfrm>
            <a:off x="841248" y="4142232"/>
            <a:ext cx="3026664" cy="256032"/>
          </a:xfrm>
          <a:prstGeom prst="rect">
            <a:avLst/>
          </a:prstGeom>
          <a:noFill/>
          <a:ln/>
        </p:spPr>
        <p:txBody>
          <a:bodyPr wrap="square" rtlCol="0" anchor="ctr"/>
          <a:lstStyle/>
          <a:p>
            <a:pPr indent="0" marL="0">
              <a:buNone/>
            </a:pPr>
            <a:r>
              <a:rPr lang="en-US" sz="950" i="1" dirty="0">
                <a:solidFill>
                  <a:srgbClr val="5E6E6B"/>
                </a:solidFill>
                <a:latin typeface="Calibri" pitchFamily="34" charset="0"/>
                <a:ea typeface="Calibri" pitchFamily="34" charset="-122"/>
                <a:cs typeface="Calibri" pitchFamily="34" charset="-120"/>
              </a:rPr>
              <a:t>MITECO, 2024</a:t>
            </a:r>
            <a:endParaRPr lang="en-US" sz="950" dirty="0"/>
          </a:p>
        </p:txBody>
      </p:sp>
      <p:sp>
        <p:nvSpPr>
          <p:cNvPr id="13" name="Shape 10"/>
          <p:cNvSpPr/>
          <p:nvPr/>
        </p:nvSpPr>
        <p:spPr>
          <a:xfrm>
            <a:off x="4498848" y="1828800"/>
            <a:ext cx="3575304" cy="2606040"/>
          </a:xfrm>
          <a:prstGeom prst="roundRect">
            <a:avLst>
              <a:gd name="adj" fmla="val 2807"/>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4" name="Shape 11"/>
          <p:cNvSpPr/>
          <p:nvPr/>
        </p:nvSpPr>
        <p:spPr>
          <a:xfrm>
            <a:off x="4818888" y="2176272"/>
            <a:ext cx="841248" cy="841248"/>
          </a:xfrm>
          <a:prstGeom prst="ellipse">
            <a:avLst/>
          </a:prstGeom>
          <a:solidFill>
            <a:srgbClr val="1FA463"/>
          </a:solidFill>
          <a:ln/>
        </p:spPr>
      </p:sp>
      <p:pic>
        <p:nvPicPr>
          <p:cNvPr id="15" name="Image 1" descr="preencoded.png">    </p:cNvPr>
          <p:cNvPicPr>
            <a:picLocks noChangeAspect="1"/>
          </p:cNvPicPr>
          <p:nvPr/>
        </p:nvPicPr>
        <p:blipFill>
          <a:blip r:embed="rId2"/>
          <a:stretch>
            <a:fillRect/>
          </a:stretch>
        </p:blipFill>
        <p:spPr>
          <a:xfrm>
            <a:off x="5038344" y="2395728"/>
            <a:ext cx="402336" cy="402336"/>
          </a:xfrm>
          <a:prstGeom prst="rect">
            <a:avLst/>
          </a:prstGeom>
        </p:spPr>
      </p:pic>
      <p:sp>
        <p:nvSpPr>
          <p:cNvPr id="16" name="Text 12"/>
          <p:cNvSpPr/>
          <p:nvPr/>
        </p:nvSpPr>
        <p:spPr>
          <a:xfrm>
            <a:off x="4773168" y="3063240"/>
            <a:ext cx="3026664" cy="685800"/>
          </a:xfrm>
          <a:prstGeom prst="rect">
            <a:avLst/>
          </a:prstGeom>
          <a:noFill/>
          <a:ln/>
        </p:spPr>
        <p:txBody>
          <a:bodyPr wrap="square" rtlCol="0" anchor="ctr"/>
          <a:lstStyle/>
          <a:p>
            <a:pPr indent="0" marL="0">
              <a:buNone/>
            </a:pPr>
            <a:r>
              <a:rPr lang="en-US" sz="4000" b="1" dirty="0">
                <a:solidFill>
                  <a:srgbClr val="12693E"/>
                </a:solidFill>
                <a:latin typeface="Calibri" pitchFamily="34" charset="0"/>
                <a:ea typeface="Calibri" pitchFamily="34" charset="-122"/>
                <a:cs typeface="Calibri" pitchFamily="34" charset="-120"/>
              </a:rPr>
              <a:t>+130.000</a:t>
            </a:r>
            <a:endParaRPr lang="en-US" sz="4000" dirty="0"/>
          </a:p>
        </p:txBody>
      </p:sp>
      <p:sp>
        <p:nvSpPr>
          <p:cNvPr id="17" name="Text 13"/>
          <p:cNvSpPr/>
          <p:nvPr/>
        </p:nvSpPr>
        <p:spPr>
          <a:xfrm>
            <a:off x="4791456" y="3703320"/>
            <a:ext cx="3026664" cy="548640"/>
          </a:xfrm>
          <a:prstGeom prst="rect">
            <a:avLst/>
          </a:prstGeom>
          <a:noFill/>
          <a:ln/>
        </p:spPr>
        <p:txBody>
          <a:bodyPr wrap="square" rtlCol="0" anchor="ctr"/>
          <a:lstStyle/>
          <a:p>
            <a:pPr indent="0" marL="0">
              <a:buNone/>
            </a:pPr>
            <a:r>
              <a:rPr lang="en-US" sz="1350" dirty="0">
                <a:solidFill>
                  <a:srgbClr val="16302E"/>
                </a:solidFill>
                <a:latin typeface="Calibri" pitchFamily="34" charset="0"/>
                <a:ea typeface="Calibri" pitchFamily="34" charset="-122"/>
                <a:cs typeface="Calibri" pitchFamily="34" charset="-120"/>
              </a:rPr>
              <a:t>actuaciones anuales del SEPRONA por infracciones</a:t>
            </a:r>
            <a:endParaRPr lang="en-US" sz="1350" dirty="0"/>
          </a:p>
        </p:txBody>
      </p:sp>
      <p:sp>
        <p:nvSpPr>
          <p:cNvPr id="18" name="Text 14"/>
          <p:cNvSpPr/>
          <p:nvPr/>
        </p:nvSpPr>
        <p:spPr>
          <a:xfrm>
            <a:off x="4791456" y="4142232"/>
            <a:ext cx="3026664" cy="256032"/>
          </a:xfrm>
          <a:prstGeom prst="rect">
            <a:avLst/>
          </a:prstGeom>
          <a:noFill/>
          <a:ln/>
        </p:spPr>
        <p:txBody>
          <a:bodyPr wrap="square" rtlCol="0" anchor="ctr"/>
          <a:lstStyle/>
          <a:p>
            <a:pPr indent="0" marL="0">
              <a:buNone/>
            </a:pPr>
            <a:r>
              <a:rPr lang="en-US" sz="950" i="1" dirty="0">
                <a:solidFill>
                  <a:srgbClr val="5E6E6B"/>
                </a:solidFill>
                <a:latin typeface="Calibri" pitchFamily="34" charset="0"/>
                <a:ea typeface="Calibri" pitchFamily="34" charset="-122"/>
                <a:cs typeface="Calibri" pitchFamily="34" charset="-120"/>
              </a:rPr>
              <a:t>Guardia Civil, 2024</a:t>
            </a:r>
            <a:endParaRPr lang="en-US" sz="950" dirty="0"/>
          </a:p>
        </p:txBody>
      </p:sp>
      <p:sp>
        <p:nvSpPr>
          <p:cNvPr id="19" name="Shape 15"/>
          <p:cNvSpPr/>
          <p:nvPr/>
        </p:nvSpPr>
        <p:spPr>
          <a:xfrm>
            <a:off x="8449056" y="1828800"/>
            <a:ext cx="3575304" cy="2606040"/>
          </a:xfrm>
          <a:prstGeom prst="roundRect">
            <a:avLst>
              <a:gd name="adj" fmla="val 2807"/>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20" name="Shape 16"/>
          <p:cNvSpPr/>
          <p:nvPr/>
        </p:nvSpPr>
        <p:spPr>
          <a:xfrm>
            <a:off x="8769096" y="2176272"/>
            <a:ext cx="841248" cy="841248"/>
          </a:xfrm>
          <a:prstGeom prst="ellipse">
            <a:avLst/>
          </a:prstGeom>
          <a:solidFill>
            <a:srgbClr val="1FA463"/>
          </a:solidFill>
          <a:ln/>
        </p:spPr>
      </p:sp>
      <p:pic>
        <p:nvPicPr>
          <p:cNvPr id="21" name="Image 2" descr="preencoded.png">    </p:cNvPr>
          <p:cNvPicPr>
            <a:picLocks noChangeAspect="1"/>
          </p:cNvPicPr>
          <p:nvPr/>
        </p:nvPicPr>
        <p:blipFill>
          <a:blip r:embed="rId3"/>
          <a:stretch>
            <a:fillRect/>
          </a:stretch>
        </p:blipFill>
        <p:spPr>
          <a:xfrm>
            <a:off x="8988552" y="2395728"/>
            <a:ext cx="402336" cy="402336"/>
          </a:xfrm>
          <a:prstGeom prst="rect">
            <a:avLst/>
          </a:prstGeom>
        </p:spPr>
      </p:pic>
      <p:sp>
        <p:nvSpPr>
          <p:cNvPr id="22" name="Text 17"/>
          <p:cNvSpPr/>
          <p:nvPr/>
        </p:nvSpPr>
        <p:spPr>
          <a:xfrm>
            <a:off x="8723376" y="3063240"/>
            <a:ext cx="3026664" cy="685800"/>
          </a:xfrm>
          <a:prstGeom prst="rect">
            <a:avLst/>
          </a:prstGeom>
          <a:noFill/>
          <a:ln/>
        </p:spPr>
        <p:txBody>
          <a:bodyPr wrap="square" rtlCol="0" anchor="ctr"/>
          <a:lstStyle/>
          <a:p>
            <a:pPr indent="0" marL="0">
              <a:buNone/>
            </a:pPr>
            <a:r>
              <a:rPr lang="en-US" sz="4000" b="1" dirty="0">
                <a:solidFill>
                  <a:srgbClr val="12693E"/>
                </a:solidFill>
                <a:latin typeface="Calibri" pitchFamily="34" charset="0"/>
                <a:ea typeface="Calibri" pitchFamily="34" charset="-122"/>
                <a:cs typeface="Calibri" pitchFamily="34" charset="-120"/>
              </a:rPr>
              <a:t>97,7 %</a:t>
            </a:r>
            <a:endParaRPr lang="en-US" sz="4000" dirty="0"/>
          </a:p>
        </p:txBody>
      </p:sp>
      <p:sp>
        <p:nvSpPr>
          <p:cNvPr id="23" name="Text 18"/>
          <p:cNvSpPr/>
          <p:nvPr/>
        </p:nvSpPr>
        <p:spPr>
          <a:xfrm>
            <a:off x="8741664" y="3703320"/>
            <a:ext cx="3026664" cy="548640"/>
          </a:xfrm>
          <a:prstGeom prst="rect">
            <a:avLst/>
          </a:prstGeom>
          <a:noFill/>
          <a:ln/>
        </p:spPr>
        <p:txBody>
          <a:bodyPr wrap="square" rtlCol="0" anchor="ctr"/>
          <a:lstStyle/>
          <a:p>
            <a:pPr indent="0" marL="0">
              <a:buNone/>
            </a:pPr>
            <a:r>
              <a:rPr lang="en-US" sz="1350" dirty="0">
                <a:solidFill>
                  <a:srgbClr val="16302E"/>
                </a:solidFill>
                <a:latin typeface="Calibri" pitchFamily="34" charset="0"/>
                <a:ea typeface="Calibri" pitchFamily="34" charset="-122"/>
                <a:cs typeface="Calibri" pitchFamily="34" charset="-120"/>
              </a:rPr>
              <a:t>de hogares con Internet; +95 % con smartphone</a:t>
            </a:r>
            <a:endParaRPr lang="en-US" sz="1350" dirty="0"/>
          </a:p>
        </p:txBody>
      </p:sp>
      <p:sp>
        <p:nvSpPr>
          <p:cNvPr id="24" name="Text 19"/>
          <p:cNvSpPr/>
          <p:nvPr/>
        </p:nvSpPr>
        <p:spPr>
          <a:xfrm>
            <a:off x="8741664" y="4142232"/>
            <a:ext cx="3026664" cy="256032"/>
          </a:xfrm>
          <a:prstGeom prst="rect">
            <a:avLst/>
          </a:prstGeom>
          <a:noFill/>
          <a:ln/>
        </p:spPr>
        <p:txBody>
          <a:bodyPr wrap="square" rtlCol="0" anchor="ctr"/>
          <a:lstStyle/>
          <a:p>
            <a:pPr indent="0" marL="0">
              <a:buNone/>
            </a:pPr>
            <a:r>
              <a:rPr lang="en-US" sz="950" i="1" dirty="0">
                <a:solidFill>
                  <a:srgbClr val="5E6E6B"/>
                </a:solidFill>
                <a:latin typeface="Calibri" pitchFamily="34" charset="0"/>
                <a:ea typeface="Calibri" pitchFamily="34" charset="-122"/>
                <a:cs typeface="Calibri" pitchFamily="34" charset="-120"/>
              </a:rPr>
              <a:t>INE, 2023</a:t>
            </a:r>
            <a:endParaRPr lang="en-US" sz="950" dirty="0"/>
          </a:p>
        </p:txBody>
      </p:sp>
      <p:sp>
        <p:nvSpPr>
          <p:cNvPr id="25" name="Shape 20"/>
          <p:cNvSpPr/>
          <p:nvPr/>
        </p:nvSpPr>
        <p:spPr>
          <a:xfrm>
            <a:off x="548640" y="4754880"/>
            <a:ext cx="11091672" cy="1280160"/>
          </a:xfrm>
          <a:prstGeom prst="roundRect">
            <a:avLst>
              <a:gd name="adj" fmla="val 5714"/>
            </a:avLst>
          </a:prstGeom>
          <a:solidFill>
            <a:srgbClr val="0E3A36"/>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26" name="Text 21"/>
          <p:cNvSpPr/>
          <p:nvPr/>
        </p:nvSpPr>
        <p:spPr>
          <a:xfrm>
            <a:off x="914400" y="4754880"/>
            <a:ext cx="10424160" cy="128016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El ciudadano ya tiene la herramienta en el bolsillo. </a:t>
            </a:r>
            <a:pPr indent="0" marL="0">
              <a:buNone/>
            </a:pPr>
            <a:r>
              <a:rPr lang="en-US" sz="1700" dirty="0">
                <a:solidFill>
                  <a:srgbClr val="CFE6DE"/>
                </a:solidFill>
                <a:latin typeface="Calibri" pitchFamily="34" charset="0"/>
                <a:ea typeface="Calibri" pitchFamily="34" charset="-122"/>
                <a:cs typeface="Calibri" pitchFamily="34" charset="-120"/>
              </a:rPr>
              <a:t>Los canales tradicionales (112, oficinas, formularios sin geolocalización) no aprovechan ese flujo ni devuelven seguimiento.</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8F6"/>
        </a:solidFill>
      </p:bgPr>
    </p:bg>
    <p:spTree>
      <p:nvGrpSpPr>
        <p:cNvPr id="1" name=""/>
        <p:cNvGrpSpPr/>
        <p:nvPr/>
      </p:nvGrpSpPr>
      <p:grpSpPr>
        <a:xfrm>
          <a:off x="0" y="0"/>
          <a:ext cx="0" cy="0"/>
          <a:chOff x="0" y="0"/>
          <a:chExt cx="0" cy="0"/>
        </a:xfrm>
      </p:grpSpPr>
      <p:sp>
        <p:nvSpPr>
          <p:cNvPr id="2" name="Shape 0"/>
          <p:cNvSpPr/>
          <p:nvPr/>
        </p:nvSpPr>
        <p:spPr>
          <a:xfrm>
            <a:off x="548640" y="475488"/>
            <a:ext cx="146304" cy="475488"/>
          </a:xfrm>
          <a:prstGeom prst="roundRect">
            <a:avLst>
              <a:gd name="adj" fmla="val 31250"/>
            </a:avLst>
          </a:prstGeom>
          <a:solidFill>
            <a:srgbClr val="1FA463"/>
          </a:solidFill>
          <a:ln/>
        </p:spPr>
      </p:sp>
      <p:sp>
        <p:nvSpPr>
          <p:cNvPr id="3" name="Text 1"/>
          <p:cNvSpPr/>
          <p:nvPr/>
        </p:nvSpPr>
        <p:spPr>
          <a:xfrm>
            <a:off x="841248" y="411480"/>
            <a:ext cx="10789920" cy="640080"/>
          </a:xfrm>
          <a:prstGeom prst="rect">
            <a:avLst/>
          </a:prstGeom>
          <a:noFill/>
          <a:ln/>
        </p:spPr>
        <p:txBody>
          <a:bodyPr wrap="square" lIns="0" tIns="0" rIns="0" bIns="0" rtlCol="0" anchor="ctr"/>
          <a:lstStyle/>
          <a:p>
            <a:pPr indent="0" marL="0">
              <a:buNone/>
            </a:pPr>
            <a:r>
              <a:rPr lang="en-US" sz="2800" b="1" dirty="0">
                <a:solidFill>
                  <a:srgbClr val="0E3A36"/>
                </a:solidFill>
                <a:latin typeface="Calibri" pitchFamily="34" charset="0"/>
                <a:ea typeface="Calibri" pitchFamily="34" charset="-122"/>
                <a:cs typeface="Calibri" pitchFamily="34" charset="-120"/>
              </a:rPr>
              <a:t>El hueco que ninguna aplicación cubre</a:t>
            </a:r>
            <a:endParaRPr lang="en-US" sz="2800" dirty="0"/>
          </a:p>
        </p:txBody>
      </p:sp>
      <p:sp>
        <p:nvSpPr>
          <p:cNvPr id="4" name="Text 2"/>
          <p:cNvSpPr/>
          <p:nvPr/>
        </p:nvSpPr>
        <p:spPr>
          <a:xfrm>
            <a:off x="548640" y="6437376"/>
            <a:ext cx="5486400" cy="274320"/>
          </a:xfrm>
          <a:prstGeom prst="rect">
            <a:avLst/>
          </a:prstGeom>
          <a:noFill/>
          <a:ln/>
        </p:spPr>
        <p:txBody>
          <a:bodyPr wrap="square" rtlCol="0" anchor="ctr"/>
          <a:lstStyle/>
          <a:p>
            <a:pPr indent="0" marL="0">
              <a:buNone/>
            </a:pPr>
            <a:r>
              <a:rPr lang="en-US" sz="900" dirty="0">
                <a:solidFill>
                  <a:srgbClr val="5E6E6B"/>
                </a:solidFill>
                <a:latin typeface="Calibri" pitchFamily="34" charset="0"/>
                <a:ea typeface="Calibri" pitchFamily="34" charset="-122"/>
                <a:cs typeface="Calibri" pitchFamily="34" charset="-120"/>
              </a:rPr>
              <a:t>EcoAlerta · Trabajo Fin de Grado</a:t>
            </a:r>
            <a:endParaRPr lang="en-US" sz="900" dirty="0"/>
          </a:p>
        </p:txBody>
      </p:sp>
      <p:sp>
        <p:nvSpPr>
          <p:cNvPr id="5" name="Text 3"/>
          <p:cNvSpPr/>
          <p:nvPr/>
        </p:nvSpPr>
        <p:spPr>
          <a:xfrm>
            <a:off x="10725912" y="6437376"/>
            <a:ext cx="914400" cy="274320"/>
          </a:xfrm>
          <a:prstGeom prst="rect">
            <a:avLst/>
          </a:prstGeom>
          <a:noFill/>
          <a:ln/>
        </p:spPr>
        <p:txBody>
          <a:bodyPr wrap="square" rtlCol="0" anchor="ctr"/>
          <a:lstStyle/>
          <a:p>
            <a:pPr algn="r" indent="0" marL="0">
              <a:buNone/>
            </a:pPr>
            <a:r>
              <a:rPr lang="en-US" sz="900" dirty="0">
                <a:solidFill>
                  <a:srgbClr val="5E6E6B"/>
                </a:solidFill>
                <a:latin typeface="Calibri" pitchFamily="34" charset="0"/>
                <a:ea typeface="Calibri" pitchFamily="34" charset="-122"/>
                <a:cs typeface="Calibri" pitchFamily="34" charset="-120"/>
              </a:rPr>
              <a:t>3 / 13</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776472"/>
                <a:gridCol w="1298448"/>
                <a:gridCol w="1207008"/>
                <a:gridCol w="1207008"/>
                <a:gridCol w="1298448"/>
                <a:gridCol w="1207008"/>
                <a:gridCol w="1097280"/>
              </a:tblGrid>
              <a:tr h="5029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Funcionalidad</a:t>
                      </a:r>
                      <a:endParaRPr lang="en-US" sz="125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0E3A36"/>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FixMyStreet</a:t>
                      </a:r>
                      <a:endParaRPr lang="en-US" sz="115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0E3A36"/>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Línea Verde</a:t>
                      </a:r>
                      <a:endParaRPr lang="en-US" sz="115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0E3A36"/>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iNaturalist</a:t>
                      </a:r>
                      <a:endParaRPr lang="en-US" sz="115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0E3A36"/>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SeeClickFix</a:t>
                      </a:r>
                      <a:endParaRPr lang="en-US" sz="115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0E3A36"/>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Epicollect5</a:t>
                      </a:r>
                      <a:endParaRPr lang="en-US" sz="115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0E3A36"/>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EcoAlerta</a:t>
                      </a:r>
                      <a:endParaRPr lang="en-US" sz="115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1FA463"/>
                    </a:solidFill>
                  </a:tcPr>
                </a:tc>
              </a:tr>
              <a:tr h="566928">
                <a:tc>
                  <a:txBody>
                    <a:bodyPr/>
                    <a:lstStyle/>
                    <a:p>
                      <a:pPr algn="l" indent="0" marL="0">
                        <a:buNone/>
                      </a:pPr>
                      <a:r>
                        <a:rPr lang="en-US" sz="1200" b="1" dirty="0">
                          <a:solidFill>
                            <a:srgbClr val="16302E"/>
                          </a:solidFill>
                          <a:latin typeface="Calibri" pitchFamily="34" charset="0"/>
                          <a:ea typeface="Calibri" pitchFamily="34" charset="-122"/>
                          <a:cs typeface="Calibri" pitchFamily="34" charset="-120"/>
                        </a:rPr>
                        <a:t>Reporte geolocalizado con foto</a:t>
                      </a:r>
                      <a:endParaRPr lang="en-US" sz="12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tcPr>
                </a:tc>
                <a:tc>
                  <a:txBody>
                    <a:bodyPr/>
                    <a:lstStyle/>
                    <a:p>
                      <a:pPr algn="ctr" indent="0" marL="0">
                        <a:buNone/>
                      </a:pPr>
                      <a:r>
                        <a:rPr lang="en-US" sz="1500" b="1" dirty="0">
                          <a:solidFill>
                            <a:srgbClr val="12693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2693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2693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2693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2693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1FA463"/>
                    </a:solidFill>
                  </a:tcPr>
                </a:tc>
              </a:tr>
              <a:tr h="566928">
                <a:tc>
                  <a:txBody>
                    <a:bodyPr/>
                    <a:lstStyle/>
                    <a:p>
                      <a:pPr algn="l" indent="0" marL="0">
                        <a:buNone/>
                      </a:pPr>
                      <a:r>
                        <a:rPr lang="en-US" sz="1200" b="1" dirty="0">
                          <a:solidFill>
                            <a:srgbClr val="16302E"/>
                          </a:solidFill>
                          <a:latin typeface="Calibri" pitchFamily="34" charset="0"/>
                          <a:ea typeface="Calibri" pitchFamily="34" charset="-122"/>
                          <a:cs typeface="Calibri" pitchFamily="34" charset="-120"/>
                        </a:rPr>
                        <a:t>Enfoque medioambiental específico</a:t>
                      </a:r>
                      <a:endParaRPr lang="en-US" sz="12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tcPr>
                </a:tc>
                <a:tc>
                  <a:txBody>
                    <a:bodyPr/>
                    <a:lstStyle/>
                    <a:p>
                      <a:pPr algn="ctr" indent="0" marL="0">
                        <a:buNone/>
                      </a:pPr>
                      <a:r>
                        <a:rPr lang="en-US" sz="1500" b="1" dirty="0">
                          <a:solidFill>
                            <a:srgbClr val="B442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77F1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2693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442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77F1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1FA463"/>
                    </a:solidFill>
                  </a:tcPr>
                </a:tc>
              </a:tr>
              <a:tr h="566928">
                <a:tc>
                  <a:txBody>
                    <a:bodyPr/>
                    <a:lstStyle/>
                    <a:p>
                      <a:pPr algn="l" indent="0" marL="0">
                        <a:buNone/>
                      </a:pPr>
                      <a:r>
                        <a:rPr lang="en-US" sz="1200" b="1" dirty="0">
                          <a:solidFill>
                            <a:srgbClr val="16302E"/>
                          </a:solidFill>
                          <a:latin typeface="Calibri" pitchFamily="34" charset="0"/>
                          <a:ea typeface="Calibri" pitchFamily="34" charset="-122"/>
                          <a:cs typeface="Calibri" pitchFamily="34" charset="-120"/>
                        </a:rPr>
                        <a:t>Delegación a entidades responsables</a:t>
                      </a:r>
                      <a:endParaRPr lang="en-US" sz="12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tcPr>
                </a:tc>
                <a:tc>
                  <a:txBody>
                    <a:bodyPr/>
                    <a:lstStyle/>
                    <a:p>
                      <a:pPr algn="ctr" indent="0" marL="0">
                        <a:buNone/>
                      </a:pPr>
                      <a:r>
                        <a:rPr lang="en-US" sz="1500" b="1" dirty="0">
                          <a:solidFill>
                            <a:srgbClr val="C77F1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2693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442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2693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442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1FA463"/>
                    </a:solidFill>
                  </a:tcPr>
                </a:tc>
              </a:tr>
              <a:tr h="566928">
                <a:tc>
                  <a:txBody>
                    <a:bodyPr/>
                    <a:lstStyle/>
                    <a:p>
                      <a:pPr algn="l" indent="0" marL="0">
                        <a:buNone/>
                      </a:pPr>
                      <a:r>
                        <a:rPr lang="en-US" sz="1200" b="1" dirty="0">
                          <a:solidFill>
                            <a:srgbClr val="16302E"/>
                          </a:solidFill>
                          <a:latin typeface="Calibri" pitchFamily="34" charset="0"/>
                          <a:ea typeface="Calibri" pitchFamily="34" charset="-122"/>
                          <a:cs typeface="Calibri" pitchFamily="34" charset="-120"/>
                        </a:rPr>
                        <a:t>Flujo de estados trazable</a:t>
                      </a:r>
                      <a:endParaRPr lang="en-US" sz="12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tcPr>
                </a:tc>
                <a:tc>
                  <a:txBody>
                    <a:bodyPr/>
                    <a:lstStyle/>
                    <a:p>
                      <a:pPr algn="ctr" indent="0" marL="0">
                        <a:buNone/>
                      </a:pPr>
                      <a:r>
                        <a:rPr lang="en-US" sz="1500" b="1" dirty="0">
                          <a:solidFill>
                            <a:srgbClr val="12693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77F1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442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2693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442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1FA463"/>
                    </a:solidFill>
                  </a:tcPr>
                </a:tc>
              </a:tr>
              <a:tr h="566928">
                <a:tc>
                  <a:txBody>
                    <a:bodyPr/>
                    <a:lstStyle/>
                    <a:p>
                      <a:pPr algn="l" indent="0" marL="0">
                        <a:buNone/>
                      </a:pPr>
                      <a:r>
                        <a:rPr lang="en-US" sz="1200" b="1" dirty="0">
                          <a:solidFill>
                            <a:srgbClr val="16302E"/>
                          </a:solidFill>
                          <a:latin typeface="Calibri" pitchFamily="34" charset="0"/>
                          <a:ea typeface="Calibri" pitchFamily="34" charset="-122"/>
                          <a:cs typeface="Calibri" pitchFamily="34" charset="-120"/>
                        </a:rPr>
                        <a:t>Componente social (votos, comentarios)</a:t>
                      </a:r>
                      <a:endParaRPr lang="en-US" sz="12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tcPr>
                </a:tc>
                <a:tc>
                  <a:txBody>
                    <a:bodyPr/>
                    <a:lstStyle/>
                    <a:p>
                      <a:pPr algn="ctr" indent="0" marL="0">
                        <a:buNone/>
                      </a:pPr>
                      <a:r>
                        <a:rPr lang="en-US" sz="1500" b="1" dirty="0">
                          <a:solidFill>
                            <a:srgbClr val="C77F1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442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2693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77F1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442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1FA463"/>
                    </a:solidFill>
                  </a:tcPr>
                </a:tc>
              </a:tr>
              <a:tr h="566928">
                <a:tc>
                  <a:txBody>
                    <a:bodyPr/>
                    <a:lstStyle/>
                    <a:p>
                      <a:pPr algn="l" indent="0" marL="0">
                        <a:buNone/>
                      </a:pPr>
                      <a:r>
                        <a:rPr lang="en-US" sz="1200" b="1" dirty="0">
                          <a:solidFill>
                            <a:srgbClr val="16302E"/>
                          </a:solidFill>
                          <a:latin typeface="Calibri" pitchFamily="34" charset="0"/>
                          <a:ea typeface="Calibri" pitchFamily="34" charset="-122"/>
                          <a:cs typeface="Calibri" pitchFamily="34" charset="-120"/>
                        </a:rPr>
                        <a:t>Niveles de severidad explícitos</a:t>
                      </a:r>
                      <a:endParaRPr lang="en-US" sz="12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tcPr>
                </a:tc>
                <a:tc>
                  <a:txBody>
                    <a:bodyPr/>
                    <a:lstStyle/>
                    <a:p>
                      <a:pPr algn="ctr" indent="0" marL="0">
                        <a:buNone/>
                      </a:pPr>
                      <a:r>
                        <a:rPr lang="en-US" sz="1500" b="1" dirty="0">
                          <a:solidFill>
                            <a:srgbClr val="C77F1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442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4423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77F12"/>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2693E"/>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E6EEEB"/>
                      </a:solidFill>
                      <a:prstDash val="solid"/>
                      <a:round/>
                      <a:headEnd type="none" w="med" len="med"/>
                      <a:tailEnd type="none" w="med" len="med"/>
                    </a:lnL>
                    <a:lnR w="12700" cap="flat" cmpd="sng" algn="ctr">
                      <a:solidFill>
                        <a:srgbClr val="E6EEEB"/>
                      </a:solidFill>
                      <a:prstDash val="solid"/>
                      <a:round/>
                      <a:headEnd type="none" w="med" len="med"/>
                      <a:tailEnd type="none" w="med" len="med"/>
                    </a:lnR>
                    <a:lnT w="12700" cap="flat" cmpd="sng" algn="ctr">
                      <a:solidFill>
                        <a:srgbClr val="E6EEEB"/>
                      </a:solidFill>
                      <a:prstDash val="solid"/>
                      <a:round/>
                      <a:headEnd type="none" w="med" len="med"/>
                      <a:tailEnd type="none" w="med" len="med"/>
                    </a:lnT>
                    <a:lnB w="12700" cap="flat" cmpd="sng" algn="ctr">
                      <a:solidFill>
                        <a:srgbClr val="E6EEEB"/>
                      </a:solidFill>
                      <a:prstDash val="solid"/>
                      <a:round/>
                      <a:headEnd type="none" w="med" len="med"/>
                      <a:tailEnd type="none" w="med" len="med"/>
                    </a:lnB>
                    <a:solidFill>
                      <a:srgbClr val="1FA463"/>
                    </a:solidFill>
                  </a:tcPr>
                </a:tc>
              </a:tr>
            </a:tbl>
          </a:graphicData>
        </a:graphic>
      </p:graphicFrame>
      <p:sp>
        <p:nvSpPr>
          <p:cNvPr id="7" name="Text 4"/>
          <p:cNvSpPr/>
          <p:nvPr/>
        </p:nvSpPr>
        <p:spPr>
          <a:xfrm>
            <a:off x="548640" y="5897880"/>
            <a:ext cx="11064240" cy="365760"/>
          </a:xfrm>
          <a:prstGeom prst="rect">
            <a:avLst/>
          </a:prstGeom>
          <a:noFill/>
          <a:ln/>
        </p:spPr>
        <p:txBody>
          <a:bodyPr wrap="square" rtlCol="0" anchor="ctr"/>
          <a:lstStyle/>
          <a:p>
            <a:pPr indent="0" marL="0">
              <a:buNone/>
            </a:pPr>
            <a:r>
              <a:rPr lang="en-US" sz="1400" b="1" dirty="0">
                <a:solidFill>
                  <a:srgbClr val="0E3A36"/>
                </a:solidFill>
                <a:latin typeface="Calibri" pitchFamily="34" charset="0"/>
                <a:ea typeface="Calibri" pitchFamily="34" charset="-122"/>
                <a:cs typeface="Calibri" pitchFamily="34" charset="-120"/>
              </a:rPr>
              <a:t>Ninguna combina todas las dimensiones a la vez. </a:t>
            </a:r>
            <a:pPr indent="0" marL="0">
              <a:buNone/>
            </a:pPr>
            <a:r>
              <a:rPr lang="en-US" sz="1400" dirty="0">
                <a:solidFill>
                  <a:srgbClr val="5E6E6B"/>
                </a:solidFill>
                <a:latin typeface="Calibri" pitchFamily="34" charset="0"/>
                <a:ea typeface="Calibri" pitchFamily="34" charset="-122"/>
                <a:cs typeface="Calibri" pitchFamily="34" charset="-120"/>
              </a:rPr>
              <a:t>Ese hueco es el punto de partida del proyecto (objetivo 1).</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8F6"/>
        </a:solidFill>
      </p:bgPr>
    </p:bg>
    <p:spTree>
      <p:nvGrpSpPr>
        <p:cNvPr id="1" name=""/>
        <p:cNvGrpSpPr/>
        <p:nvPr/>
      </p:nvGrpSpPr>
      <p:grpSpPr>
        <a:xfrm>
          <a:off x="0" y="0"/>
          <a:ext cx="0" cy="0"/>
          <a:chOff x="0" y="0"/>
          <a:chExt cx="0" cy="0"/>
        </a:xfrm>
      </p:grpSpPr>
      <p:sp>
        <p:nvSpPr>
          <p:cNvPr id="2" name="Shape 0"/>
          <p:cNvSpPr/>
          <p:nvPr/>
        </p:nvSpPr>
        <p:spPr>
          <a:xfrm>
            <a:off x="548640" y="475488"/>
            <a:ext cx="146304" cy="475488"/>
          </a:xfrm>
          <a:prstGeom prst="roundRect">
            <a:avLst>
              <a:gd name="adj" fmla="val 31250"/>
            </a:avLst>
          </a:prstGeom>
          <a:solidFill>
            <a:srgbClr val="1FA463"/>
          </a:solidFill>
          <a:ln/>
        </p:spPr>
      </p:sp>
      <p:sp>
        <p:nvSpPr>
          <p:cNvPr id="3" name="Text 1"/>
          <p:cNvSpPr/>
          <p:nvPr/>
        </p:nvSpPr>
        <p:spPr>
          <a:xfrm>
            <a:off x="841248" y="411480"/>
            <a:ext cx="10789920" cy="640080"/>
          </a:xfrm>
          <a:prstGeom prst="rect">
            <a:avLst/>
          </a:prstGeom>
          <a:noFill/>
          <a:ln/>
        </p:spPr>
        <p:txBody>
          <a:bodyPr wrap="square" lIns="0" tIns="0" rIns="0" bIns="0" rtlCol="0" anchor="ctr"/>
          <a:lstStyle/>
          <a:p>
            <a:pPr indent="0" marL="0">
              <a:buNone/>
            </a:pPr>
            <a:r>
              <a:rPr lang="en-US" sz="2800" b="1" dirty="0">
                <a:solidFill>
                  <a:srgbClr val="0E3A36"/>
                </a:solidFill>
                <a:latin typeface="Calibri" pitchFamily="34" charset="0"/>
                <a:ea typeface="Calibri" pitchFamily="34" charset="-122"/>
                <a:cs typeface="Calibri" pitchFamily="34" charset="-120"/>
              </a:rPr>
              <a:t>Objetivos</a:t>
            </a:r>
            <a:endParaRPr lang="en-US" sz="2800" dirty="0"/>
          </a:p>
        </p:txBody>
      </p:sp>
      <p:sp>
        <p:nvSpPr>
          <p:cNvPr id="4" name="Text 2"/>
          <p:cNvSpPr/>
          <p:nvPr/>
        </p:nvSpPr>
        <p:spPr>
          <a:xfrm>
            <a:off x="548640" y="6437376"/>
            <a:ext cx="5486400" cy="274320"/>
          </a:xfrm>
          <a:prstGeom prst="rect">
            <a:avLst/>
          </a:prstGeom>
          <a:noFill/>
          <a:ln/>
        </p:spPr>
        <p:txBody>
          <a:bodyPr wrap="square" rtlCol="0" anchor="ctr"/>
          <a:lstStyle/>
          <a:p>
            <a:pPr indent="0" marL="0">
              <a:buNone/>
            </a:pPr>
            <a:r>
              <a:rPr lang="en-US" sz="900" dirty="0">
                <a:solidFill>
                  <a:srgbClr val="5E6E6B"/>
                </a:solidFill>
                <a:latin typeface="Calibri" pitchFamily="34" charset="0"/>
                <a:ea typeface="Calibri" pitchFamily="34" charset="-122"/>
                <a:cs typeface="Calibri" pitchFamily="34" charset="-120"/>
              </a:rPr>
              <a:t>EcoAlerta · Trabajo Fin de Grado</a:t>
            </a:r>
            <a:endParaRPr lang="en-US" sz="900" dirty="0"/>
          </a:p>
        </p:txBody>
      </p:sp>
      <p:sp>
        <p:nvSpPr>
          <p:cNvPr id="5" name="Text 3"/>
          <p:cNvSpPr/>
          <p:nvPr/>
        </p:nvSpPr>
        <p:spPr>
          <a:xfrm>
            <a:off x="10725912" y="6437376"/>
            <a:ext cx="914400" cy="274320"/>
          </a:xfrm>
          <a:prstGeom prst="rect">
            <a:avLst/>
          </a:prstGeom>
          <a:noFill/>
          <a:ln/>
        </p:spPr>
        <p:txBody>
          <a:bodyPr wrap="square" rtlCol="0" anchor="ctr"/>
          <a:lstStyle/>
          <a:p>
            <a:pPr algn="r" indent="0" marL="0">
              <a:buNone/>
            </a:pPr>
            <a:r>
              <a:rPr lang="en-US" sz="900" dirty="0">
                <a:solidFill>
                  <a:srgbClr val="5E6E6B"/>
                </a:solidFill>
                <a:latin typeface="Calibri" pitchFamily="34" charset="0"/>
                <a:ea typeface="Calibri" pitchFamily="34" charset="-122"/>
                <a:cs typeface="Calibri" pitchFamily="34" charset="-120"/>
              </a:rPr>
              <a:t>4 / 13</a:t>
            </a:r>
            <a:endParaRPr lang="en-US" sz="900" dirty="0"/>
          </a:p>
        </p:txBody>
      </p:sp>
      <p:sp>
        <p:nvSpPr>
          <p:cNvPr id="6" name="Shape 4"/>
          <p:cNvSpPr/>
          <p:nvPr/>
        </p:nvSpPr>
        <p:spPr>
          <a:xfrm>
            <a:off x="548640" y="1234440"/>
            <a:ext cx="11091672" cy="1051560"/>
          </a:xfrm>
          <a:prstGeom prst="roundRect">
            <a:avLst>
              <a:gd name="adj" fmla="val 6957"/>
            </a:avLst>
          </a:prstGeom>
          <a:solidFill>
            <a:srgbClr val="0E3A36"/>
          </a:solidFill>
          <a:ln w="12700">
            <a:solidFill>
              <a:srgbClr val="E0EBE7"/>
            </a:solidFill>
            <a:prstDash val="solid"/>
          </a:ln>
          <a:effectLst>
            <a:outerShdw sx="100000" sy="100000" kx="0" ky="0" algn="bl" rotWithShape="0" blurRad="88900" dist="38100" dir="8100000">
              <a:srgbClr val="0E3A36">
                <a:alpha val="16000"/>
              </a:srgbClr>
            </a:outerShdw>
          </a:effectLst>
        </p:spPr>
      </p:sp>
      <p:pic>
        <p:nvPicPr>
          <p:cNvPr id="7" name="Image 0" descr="preencoded.png">    </p:cNvPr>
          <p:cNvPicPr>
            <a:picLocks noChangeAspect="1"/>
          </p:cNvPicPr>
          <p:nvPr/>
        </p:nvPicPr>
        <p:blipFill>
          <a:blip r:embed="rId1"/>
          <a:stretch>
            <a:fillRect/>
          </a:stretch>
        </p:blipFill>
        <p:spPr>
          <a:xfrm>
            <a:off x="868680" y="1481328"/>
            <a:ext cx="502920" cy="502920"/>
          </a:xfrm>
          <a:prstGeom prst="rect">
            <a:avLst/>
          </a:prstGeom>
        </p:spPr>
      </p:pic>
      <p:sp>
        <p:nvSpPr>
          <p:cNvPr id="8" name="Text 5"/>
          <p:cNvSpPr/>
          <p:nvPr/>
        </p:nvSpPr>
        <p:spPr>
          <a:xfrm>
            <a:off x="1554480" y="1234440"/>
            <a:ext cx="9875520" cy="1051560"/>
          </a:xfrm>
          <a:prstGeom prst="rect">
            <a:avLst/>
          </a:prstGeom>
          <a:noFill/>
          <a:ln/>
        </p:spPr>
        <p:txBody>
          <a:bodyPr wrap="square" rtlCol="0" anchor="ctr"/>
          <a:lstStyle/>
          <a:p>
            <a:pPr indent="0" marL="0">
              <a:buNone/>
            </a:pPr>
            <a:r>
              <a:rPr lang="en-US" sz="1450" b="1" dirty="0">
                <a:solidFill>
                  <a:srgbClr val="1FA463"/>
                </a:solidFill>
                <a:latin typeface="Calibri" pitchFamily="34" charset="0"/>
                <a:ea typeface="Calibri" pitchFamily="34" charset="-122"/>
                <a:cs typeface="Calibri" pitchFamily="34" charset="-120"/>
              </a:rPr>
              <a:t>Objetivo general:  </a:t>
            </a:r>
            <a:pPr indent="0" marL="0">
              <a:buNone/>
            </a:pPr>
            <a:r>
              <a:rPr lang="en-US" sz="1450" dirty="0">
                <a:solidFill>
                  <a:srgbClr val="FFFFFF"/>
                </a:solidFill>
                <a:latin typeface="Calibri" pitchFamily="34" charset="0"/>
                <a:ea typeface="Calibri" pitchFamily="34" charset="-122"/>
                <a:cs typeface="Calibri" pitchFamily="34" charset="-120"/>
              </a:rPr>
              <a:t>diseñar, implementar y validar una PWA que facilite el reporte geolocalizado de incidencias medioambientales y su delegación automatizada a entidades responsables, con flujo de estados trazable y componente social.</a:t>
            </a:r>
            <a:endParaRPr lang="en-US" sz="1450" dirty="0"/>
          </a:p>
        </p:txBody>
      </p:sp>
      <p:sp>
        <p:nvSpPr>
          <p:cNvPr id="9" name="Shape 6"/>
          <p:cNvSpPr/>
          <p:nvPr/>
        </p:nvSpPr>
        <p:spPr>
          <a:xfrm>
            <a:off x="548640" y="2514600"/>
            <a:ext cx="5458968" cy="841248"/>
          </a:xfrm>
          <a:prstGeom prst="roundRect">
            <a:avLst>
              <a:gd name="adj" fmla="val 8696"/>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0" name="Shape 7"/>
          <p:cNvSpPr/>
          <p:nvPr/>
        </p:nvSpPr>
        <p:spPr>
          <a:xfrm>
            <a:off x="749808" y="2734056"/>
            <a:ext cx="420624" cy="420624"/>
          </a:xfrm>
          <a:prstGeom prst="ellipse">
            <a:avLst/>
          </a:prstGeom>
          <a:solidFill>
            <a:srgbClr val="1FA463"/>
          </a:solidFill>
          <a:ln/>
        </p:spPr>
      </p:sp>
      <p:sp>
        <p:nvSpPr>
          <p:cNvPr id="11" name="Text 8"/>
          <p:cNvSpPr/>
          <p:nvPr/>
        </p:nvSpPr>
        <p:spPr>
          <a:xfrm>
            <a:off x="749808" y="273405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Text 9"/>
          <p:cNvSpPr/>
          <p:nvPr/>
        </p:nvSpPr>
        <p:spPr>
          <a:xfrm>
            <a:off x="1316736" y="2569464"/>
            <a:ext cx="4544568" cy="73152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Analizar el estado del arte e identificar huecos de cobertura.</a:t>
            </a:r>
            <a:endParaRPr lang="en-US" sz="1200" dirty="0"/>
          </a:p>
        </p:txBody>
      </p:sp>
      <p:sp>
        <p:nvSpPr>
          <p:cNvPr id="13" name="Shape 10"/>
          <p:cNvSpPr/>
          <p:nvPr/>
        </p:nvSpPr>
        <p:spPr>
          <a:xfrm>
            <a:off x="6537960" y="2514600"/>
            <a:ext cx="5458968" cy="841248"/>
          </a:xfrm>
          <a:prstGeom prst="roundRect">
            <a:avLst>
              <a:gd name="adj" fmla="val 8696"/>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4" name="Shape 11"/>
          <p:cNvSpPr/>
          <p:nvPr/>
        </p:nvSpPr>
        <p:spPr>
          <a:xfrm>
            <a:off x="6739128" y="2734056"/>
            <a:ext cx="420624" cy="420624"/>
          </a:xfrm>
          <a:prstGeom prst="ellipse">
            <a:avLst/>
          </a:prstGeom>
          <a:solidFill>
            <a:srgbClr val="1FA463"/>
          </a:solidFill>
          <a:ln/>
        </p:spPr>
      </p:sp>
      <p:sp>
        <p:nvSpPr>
          <p:cNvPr id="15" name="Text 12"/>
          <p:cNvSpPr/>
          <p:nvPr/>
        </p:nvSpPr>
        <p:spPr>
          <a:xfrm>
            <a:off x="6739128" y="273405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7306056" y="2569464"/>
            <a:ext cx="4544568" cy="73152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Arquitectura escalable en contenedores, con soporte geoespacial.</a:t>
            </a:r>
            <a:endParaRPr lang="en-US" sz="1200" dirty="0"/>
          </a:p>
        </p:txBody>
      </p:sp>
      <p:sp>
        <p:nvSpPr>
          <p:cNvPr id="17" name="Shape 14"/>
          <p:cNvSpPr/>
          <p:nvPr/>
        </p:nvSpPr>
        <p:spPr>
          <a:xfrm>
            <a:off x="548640" y="3474720"/>
            <a:ext cx="5458968" cy="841248"/>
          </a:xfrm>
          <a:prstGeom prst="roundRect">
            <a:avLst>
              <a:gd name="adj" fmla="val 8696"/>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8" name="Shape 15"/>
          <p:cNvSpPr/>
          <p:nvPr/>
        </p:nvSpPr>
        <p:spPr>
          <a:xfrm>
            <a:off x="749808" y="3694176"/>
            <a:ext cx="420624" cy="420624"/>
          </a:xfrm>
          <a:prstGeom prst="ellipse">
            <a:avLst/>
          </a:prstGeom>
          <a:solidFill>
            <a:srgbClr val="1FA463"/>
          </a:solidFill>
          <a:ln/>
        </p:spPr>
      </p:sp>
      <p:sp>
        <p:nvSpPr>
          <p:cNvPr id="19" name="Text 16"/>
          <p:cNvSpPr/>
          <p:nvPr/>
        </p:nvSpPr>
        <p:spPr>
          <a:xfrm>
            <a:off x="749808" y="369417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7"/>
          <p:cNvSpPr/>
          <p:nvPr/>
        </p:nvSpPr>
        <p:spPr>
          <a:xfrm>
            <a:off x="1316736" y="3529584"/>
            <a:ext cx="4544568" cy="73152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Modelo de datos relacional con PostGIS y audit trail.</a:t>
            </a:r>
            <a:endParaRPr lang="en-US" sz="1200" dirty="0"/>
          </a:p>
        </p:txBody>
      </p:sp>
      <p:sp>
        <p:nvSpPr>
          <p:cNvPr id="21" name="Shape 18"/>
          <p:cNvSpPr/>
          <p:nvPr/>
        </p:nvSpPr>
        <p:spPr>
          <a:xfrm>
            <a:off x="6537960" y="3474720"/>
            <a:ext cx="5458968" cy="841248"/>
          </a:xfrm>
          <a:prstGeom prst="roundRect">
            <a:avLst>
              <a:gd name="adj" fmla="val 8696"/>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22" name="Shape 19"/>
          <p:cNvSpPr/>
          <p:nvPr/>
        </p:nvSpPr>
        <p:spPr>
          <a:xfrm>
            <a:off x="6739128" y="3694176"/>
            <a:ext cx="420624" cy="420624"/>
          </a:xfrm>
          <a:prstGeom prst="ellipse">
            <a:avLst/>
          </a:prstGeom>
          <a:solidFill>
            <a:srgbClr val="1FA463"/>
          </a:solidFill>
          <a:ln/>
        </p:spPr>
      </p:sp>
      <p:sp>
        <p:nvSpPr>
          <p:cNvPr id="23" name="Text 20"/>
          <p:cNvSpPr/>
          <p:nvPr/>
        </p:nvSpPr>
        <p:spPr>
          <a:xfrm>
            <a:off x="6739128" y="369417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Text 21"/>
          <p:cNvSpPr/>
          <p:nvPr/>
        </p:nvSpPr>
        <p:spPr>
          <a:xfrm>
            <a:off x="7306056" y="3529584"/>
            <a:ext cx="4544568" cy="73152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API REST documentada (Swagger), con roles y rate limiting.</a:t>
            </a:r>
            <a:endParaRPr lang="en-US" sz="1200" dirty="0"/>
          </a:p>
        </p:txBody>
      </p:sp>
      <p:sp>
        <p:nvSpPr>
          <p:cNvPr id="25" name="Shape 22"/>
          <p:cNvSpPr/>
          <p:nvPr/>
        </p:nvSpPr>
        <p:spPr>
          <a:xfrm>
            <a:off x="548640" y="4434840"/>
            <a:ext cx="5458968" cy="841248"/>
          </a:xfrm>
          <a:prstGeom prst="roundRect">
            <a:avLst>
              <a:gd name="adj" fmla="val 8696"/>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26" name="Shape 23"/>
          <p:cNvSpPr/>
          <p:nvPr/>
        </p:nvSpPr>
        <p:spPr>
          <a:xfrm>
            <a:off x="749808" y="4654296"/>
            <a:ext cx="420624" cy="420624"/>
          </a:xfrm>
          <a:prstGeom prst="ellipse">
            <a:avLst/>
          </a:prstGeom>
          <a:solidFill>
            <a:srgbClr val="1FA463"/>
          </a:solidFill>
          <a:ln/>
        </p:spPr>
      </p:sp>
      <p:sp>
        <p:nvSpPr>
          <p:cNvPr id="27" name="Text 24"/>
          <p:cNvSpPr/>
          <p:nvPr/>
        </p:nvSpPr>
        <p:spPr>
          <a:xfrm>
            <a:off x="749808" y="465429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Text 25"/>
          <p:cNvSpPr/>
          <p:nvPr/>
        </p:nvSpPr>
        <p:spPr>
          <a:xfrm>
            <a:off x="1316736" y="4489704"/>
            <a:ext cx="4544568" cy="73152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Interfaz PWA mobile-first, instalable, offline, accesible (WCAG).</a:t>
            </a:r>
            <a:endParaRPr lang="en-US" sz="1200" dirty="0"/>
          </a:p>
        </p:txBody>
      </p:sp>
      <p:sp>
        <p:nvSpPr>
          <p:cNvPr id="29" name="Shape 26"/>
          <p:cNvSpPr/>
          <p:nvPr/>
        </p:nvSpPr>
        <p:spPr>
          <a:xfrm>
            <a:off x="6537960" y="4434840"/>
            <a:ext cx="5458968" cy="841248"/>
          </a:xfrm>
          <a:prstGeom prst="roundRect">
            <a:avLst>
              <a:gd name="adj" fmla="val 8696"/>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30" name="Shape 27"/>
          <p:cNvSpPr/>
          <p:nvPr/>
        </p:nvSpPr>
        <p:spPr>
          <a:xfrm>
            <a:off x="6739128" y="4654296"/>
            <a:ext cx="420624" cy="420624"/>
          </a:xfrm>
          <a:prstGeom prst="ellipse">
            <a:avLst/>
          </a:prstGeom>
          <a:solidFill>
            <a:srgbClr val="1FA463"/>
          </a:solidFill>
          <a:ln/>
        </p:spPr>
      </p:sp>
      <p:sp>
        <p:nvSpPr>
          <p:cNvPr id="31" name="Text 28"/>
          <p:cNvSpPr/>
          <p:nvPr/>
        </p:nvSpPr>
        <p:spPr>
          <a:xfrm>
            <a:off x="6739128" y="465429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2" name="Text 29"/>
          <p:cNvSpPr/>
          <p:nvPr/>
        </p:nvSpPr>
        <p:spPr>
          <a:xfrm>
            <a:off x="7306056" y="4489704"/>
            <a:ext cx="4544568" cy="73152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Seguridad real: JWT con rotación, 2FA, captcha, audit log, cifrado.</a:t>
            </a:r>
            <a:endParaRPr lang="en-US" sz="1200" dirty="0"/>
          </a:p>
        </p:txBody>
      </p:sp>
      <p:sp>
        <p:nvSpPr>
          <p:cNvPr id="33" name="Shape 30"/>
          <p:cNvSpPr/>
          <p:nvPr/>
        </p:nvSpPr>
        <p:spPr>
          <a:xfrm>
            <a:off x="548640" y="5394960"/>
            <a:ext cx="5458968" cy="841248"/>
          </a:xfrm>
          <a:prstGeom prst="roundRect">
            <a:avLst>
              <a:gd name="adj" fmla="val 8696"/>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34" name="Shape 31"/>
          <p:cNvSpPr/>
          <p:nvPr/>
        </p:nvSpPr>
        <p:spPr>
          <a:xfrm>
            <a:off x="749808" y="5614416"/>
            <a:ext cx="420624" cy="420624"/>
          </a:xfrm>
          <a:prstGeom prst="ellipse">
            <a:avLst/>
          </a:prstGeom>
          <a:solidFill>
            <a:srgbClr val="1FA463"/>
          </a:solidFill>
          <a:ln/>
        </p:spPr>
      </p:sp>
      <p:sp>
        <p:nvSpPr>
          <p:cNvPr id="35" name="Text 32"/>
          <p:cNvSpPr/>
          <p:nvPr/>
        </p:nvSpPr>
        <p:spPr>
          <a:xfrm>
            <a:off x="749808" y="561441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36" name="Text 33"/>
          <p:cNvSpPr/>
          <p:nvPr/>
        </p:nvSpPr>
        <p:spPr>
          <a:xfrm>
            <a:off x="1316736" y="5449824"/>
            <a:ext cx="4544568" cy="73152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Validación con pirámide de pruebas y usuarios reales.</a:t>
            </a:r>
            <a:endParaRPr lang="en-US" sz="1200" dirty="0"/>
          </a:p>
        </p:txBody>
      </p:sp>
      <p:sp>
        <p:nvSpPr>
          <p:cNvPr id="37" name="Shape 34"/>
          <p:cNvSpPr/>
          <p:nvPr/>
        </p:nvSpPr>
        <p:spPr>
          <a:xfrm>
            <a:off x="6537960" y="5394960"/>
            <a:ext cx="5458968" cy="841248"/>
          </a:xfrm>
          <a:prstGeom prst="roundRect">
            <a:avLst>
              <a:gd name="adj" fmla="val 8696"/>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38" name="Shape 35"/>
          <p:cNvSpPr/>
          <p:nvPr/>
        </p:nvSpPr>
        <p:spPr>
          <a:xfrm>
            <a:off x="6739128" y="5614416"/>
            <a:ext cx="420624" cy="420624"/>
          </a:xfrm>
          <a:prstGeom prst="ellipse">
            <a:avLst/>
          </a:prstGeom>
          <a:solidFill>
            <a:srgbClr val="1FA463"/>
          </a:solidFill>
          <a:ln/>
        </p:spPr>
      </p:sp>
      <p:sp>
        <p:nvSpPr>
          <p:cNvPr id="39" name="Text 36"/>
          <p:cNvSpPr/>
          <p:nvPr/>
        </p:nvSpPr>
        <p:spPr>
          <a:xfrm>
            <a:off x="6739128" y="5614416"/>
            <a:ext cx="420624" cy="42062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40" name="Text 37"/>
          <p:cNvSpPr/>
          <p:nvPr/>
        </p:nvSpPr>
        <p:spPr>
          <a:xfrm>
            <a:off x="7306056" y="5449824"/>
            <a:ext cx="4544568" cy="73152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Documentación reproducible y estudio de modelo de negocio.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8F6"/>
        </a:solidFill>
      </p:bgPr>
    </p:bg>
    <p:spTree>
      <p:nvGrpSpPr>
        <p:cNvPr id="1" name=""/>
        <p:cNvGrpSpPr/>
        <p:nvPr/>
      </p:nvGrpSpPr>
      <p:grpSpPr>
        <a:xfrm>
          <a:off x="0" y="0"/>
          <a:ext cx="0" cy="0"/>
          <a:chOff x="0" y="0"/>
          <a:chExt cx="0" cy="0"/>
        </a:xfrm>
      </p:grpSpPr>
      <p:sp>
        <p:nvSpPr>
          <p:cNvPr id="2" name="Shape 0"/>
          <p:cNvSpPr/>
          <p:nvPr/>
        </p:nvSpPr>
        <p:spPr>
          <a:xfrm>
            <a:off x="548640" y="475488"/>
            <a:ext cx="146304" cy="475488"/>
          </a:xfrm>
          <a:prstGeom prst="roundRect">
            <a:avLst>
              <a:gd name="adj" fmla="val 31250"/>
            </a:avLst>
          </a:prstGeom>
          <a:solidFill>
            <a:srgbClr val="1FA463"/>
          </a:solidFill>
          <a:ln/>
        </p:spPr>
      </p:sp>
      <p:sp>
        <p:nvSpPr>
          <p:cNvPr id="3" name="Text 1"/>
          <p:cNvSpPr/>
          <p:nvPr/>
        </p:nvSpPr>
        <p:spPr>
          <a:xfrm>
            <a:off x="841248" y="411480"/>
            <a:ext cx="10789920" cy="640080"/>
          </a:xfrm>
          <a:prstGeom prst="rect">
            <a:avLst/>
          </a:prstGeom>
          <a:noFill/>
          <a:ln/>
        </p:spPr>
        <p:txBody>
          <a:bodyPr wrap="square" lIns="0" tIns="0" rIns="0" bIns="0" rtlCol="0" anchor="ctr"/>
          <a:lstStyle/>
          <a:p>
            <a:pPr indent="0" marL="0">
              <a:buNone/>
            </a:pPr>
            <a:r>
              <a:rPr lang="en-US" sz="2800" b="1" dirty="0">
                <a:solidFill>
                  <a:srgbClr val="0E3A36"/>
                </a:solidFill>
                <a:latin typeface="Calibri" pitchFamily="34" charset="0"/>
                <a:ea typeface="Calibri" pitchFamily="34" charset="-122"/>
                <a:cs typeface="Calibri" pitchFamily="34" charset="-120"/>
              </a:rPr>
              <a:t>Arquitectura y stack tecnológico</a:t>
            </a:r>
            <a:endParaRPr lang="en-US" sz="2800" dirty="0"/>
          </a:p>
        </p:txBody>
      </p:sp>
      <p:sp>
        <p:nvSpPr>
          <p:cNvPr id="4" name="Text 2"/>
          <p:cNvSpPr/>
          <p:nvPr/>
        </p:nvSpPr>
        <p:spPr>
          <a:xfrm>
            <a:off x="548640" y="6437376"/>
            <a:ext cx="5486400" cy="274320"/>
          </a:xfrm>
          <a:prstGeom prst="rect">
            <a:avLst/>
          </a:prstGeom>
          <a:noFill/>
          <a:ln/>
        </p:spPr>
        <p:txBody>
          <a:bodyPr wrap="square" rtlCol="0" anchor="ctr"/>
          <a:lstStyle/>
          <a:p>
            <a:pPr indent="0" marL="0">
              <a:buNone/>
            </a:pPr>
            <a:r>
              <a:rPr lang="en-US" sz="900" dirty="0">
                <a:solidFill>
                  <a:srgbClr val="5E6E6B"/>
                </a:solidFill>
                <a:latin typeface="Calibri" pitchFamily="34" charset="0"/>
                <a:ea typeface="Calibri" pitchFamily="34" charset="-122"/>
                <a:cs typeface="Calibri" pitchFamily="34" charset="-120"/>
              </a:rPr>
              <a:t>EcoAlerta · Trabajo Fin de Grado</a:t>
            </a:r>
            <a:endParaRPr lang="en-US" sz="900" dirty="0"/>
          </a:p>
        </p:txBody>
      </p:sp>
      <p:sp>
        <p:nvSpPr>
          <p:cNvPr id="5" name="Text 3"/>
          <p:cNvSpPr/>
          <p:nvPr/>
        </p:nvSpPr>
        <p:spPr>
          <a:xfrm>
            <a:off x="10725912" y="6437376"/>
            <a:ext cx="914400" cy="274320"/>
          </a:xfrm>
          <a:prstGeom prst="rect">
            <a:avLst/>
          </a:prstGeom>
          <a:noFill/>
          <a:ln/>
        </p:spPr>
        <p:txBody>
          <a:bodyPr wrap="square" rtlCol="0" anchor="ctr"/>
          <a:lstStyle/>
          <a:p>
            <a:pPr algn="r" indent="0" marL="0">
              <a:buNone/>
            </a:pPr>
            <a:r>
              <a:rPr lang="en-US" sz="900" dirty="0">
                <a:solidFill>
                  <a:srgbClr val="5E6E6B"/>
                </a:solidFill>
                <a:latin typeface="Calibri" pitchFamily="34" charset="0"/>
                <a:ea typeface="Calibri" pitchFamily="34" charset="-122"/>
                <a:cs typeface="Calibri" pitchFamily="34" charset="-120"/>
              </a:rPr>
              <a:t>5 / 13</a:t>
            </a:r>
            <a:endParaRPr lang="en-US" sz="900" dirty="0"/>
          </a:p>
        </p:txBody>
      </p:sp>
      <p:sp>
        <p:nvSpPr>
          <p:cNvPr id="6" name="Shape 4"/>
          <p:cNvSpPr/>
          <p:nvPr/>
        </p:nvSpPr>
        <p:spPr>
          <a:xfrm>
            <a:off x="7635240" y="1234440"/>
            <a:ext cx="4160520" cy="5074920"/>
          </a:xfrm>
          <a:prstGeom prst="roundRect">
            <a:avLst>
              <a:gd name="adj" fmla="val 1758"/>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pic>
        <p:nvPicPr>
          <p:cNvPr id="7" name="Image 0" descr="/tmp/deck/assets/arquitectura.png">    </p:cNvPr>
          <p:cNvPicPr>
            <a:picLocks noChangeAspect="1"/>
          </p:cNvPicPr>
          <p:nvPr/>
        </p:nvPicPr>
        <p:blipFill>
          <a:blip r:embed="rId1"/>
          <a:stretch>
            <a:fillRect/>
          </a:stretch>
        </p:blipFill>
        <p:spPr>
          <a:xfrm>
            <a:off x="7979388" y="1257300"/>
            <a:ext cx="3472224" cy="5029200"/>
          </a:xfrm>
          <a:prstGeom prst="rect">
            <a:avLst/>
          </a:prstGeom>
        </p:spPr>
      </p:pic>
      <p:sp>
        <p:nvSpPr>
          <p:cNvPr id="8" name="Shape 5"/>
          <p:cNvSpPr/>
          <p:nvPr/>
        </p:nvSpPr>
        <p:spPr>
          <a:xfrm>
            <a:off x="548640" y="1371600"/>
            <a:ext cx="6858000" cy="1234440"/>
          </a:xfrm>
          <a:prstGeom prst="roundRect">
            <a:avLst>
              <a:gd name="adj" fmla="val 5926"/>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9" name="Shape 6"/>
          <p:cNvSpPr/>
          <p:nvPr/>
        </p:nvSpPr>
        <p:spPr>
          <a:xfrm>
            <a:off x="548640" y="1371600"/>
            <a:ext cx="109728" cy="1234440"/>
          </a:xfrm>
          <a:prstGeom prst="rect">
            <a:avLst/>
          </a:prstGeom>
          <a:solidFill>
            <a:srgbClr val="1FA463"/>
          </a:solidFill>
          <a:ln/>
        </p:spPr>
      </p:sp>
      <p:sp>
        <p:nvSpPr>
          <p:cNvPr id="10" name="Text 7"/>
          <p:cNvSpPr/>
          <p:nvPr/>
        </p:nvSpPr>
        <p:spPr>
          <a:xfrm>
            <a:off x="868680" y="1481328"/>
            <a:ext cx="6309360" cy="365760"/>
          </a:xfrm>
          <a:prstGeom prst="rect">
            <a:avLst/>
          </a:prstGeom>
          <a:noFill/>
          <a:ln/>
        </p:spPr>
        <p:txBody>
          <a:bodyPr wrap="square" rtlCol="0" anchor="ctr"/>
          <a:lstStyle/>
          <a:p>
            <a:pPr indent="0" marL="0">
              <a:buNone/>
            </a:pPr>
            <a:r>
              <a:rPr lang="en-US" sz="1700" b="1" dirty="0">
                <a:solidFill>
                  <a:srgbClr val="0E3A36"/>
                </a:solidFill>
                <a:latin typeface="Calibri" pitchFamily="34" charset="0"/>
                <a:ea typeface="Calibri" pitchFamily="34" charset="-122"/>
                <a:cs typeface="Calibri" pitchFamily="34" charset="-120"/>
              </a:rPr>
              <a:t>Frontend</a:t>
            </a:r>
            <a:endParaRPr lang="en-US" sz="1700" dirty="0"/>
          </a:p>
        </p:txBody>
      </p:sp>
      <p:sp>
        <p:nvSpPr>
          <p:cNvPr id="11" name="Text 8"/>
          <p:cNvSpPr/>
          <p:nvPr/>
        </p:nvSpPr>
        <p:spPr>
          <a:xfrm>
            <a:off x="868680" y="1874520"/>
            <a:ext cx="6355080" cy="658368"/>
          </a:xfrm>
          <a:prstGeom prst="rect">
            <a:avLst/>
          </a:prstGeom>
          <a:noFill/>
          <a:ln/>
        </p:spPr>
        <p:txBody>
          <a:bodyPr wrap="square" rtlCol="0" anchor="ctr"/>
          <a:lstStyle/>
          <a:p>
            <a:pPr indent="0" marL="0">
              <a:buNone/>
            </a:pPr>
            <a:r>
              <a:rPr lang="en-US" sz="1300" dirty="0">
                <a:solidFill>
                  <a:srgbClr val="16302E"/>
                </a:solidFill>
                <a:latin typeface="Calibri" pitchFamily="34" charset="0"/>
                <a:ea typeface="Calibri" pitchFamily="34" charset="-122"/>
                <a:cs typeface="Calibri" pitchFamily="34" charset="-120"/>
              </a:rPr>
              <a:t>SPA en React 18 + Tailwind + Leaflet sobre OpenStreetMap. Instalable como PWA con soporte offline.</a:t>
            </a:r>
            <a:endParaRPr lang="en-US" sz="1300" dirty="0"/>
          </a:p>
        </p:txBody>
      </p:sp>
      <p:sp>
        <p:nvSpPr>
          <p:cNvPr id="12" name="Shape 9"/>
          <p:cNvSpPr/>
          <p:nvPr/>
        </p:nvSpPr>
        <p:spPr>
          <a:xfrm>
            <a:off x="548640" y="2743200"/>
            <a:ext cx="6858000" cy="1234440"/>
          </a:xfrm>
          <a:prstGeom prst="roundRect">
            <a:avLst>
              <a:gd name="adj" fmla="val 5926"/>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3" name="Shape 10"/>
          <p:cNvSpPr/>
          <p:nvPr/>
        </p:nvSpPr>
        <p:spPr>
          <a:xfrm>
            <a:off x="548640" y="2743200"/>
            <a:ext cx="109728" cy="1234440"/>
          </a:xfrm>
          <a:prstGeom prst="rect">
            <a:avLst/>
          </a:prstGeom>
          <a:solidFill>
            <a:srgbClr val="1FA463"/>
          </a:solidFill>
          <a:ln/>
        </p:spPr>
      </p:sp>
      <p:sp>
        <p:nvSpPr>
          <p:cNvPr id="14" name="Text 11"/>
          <p:cNvSpPr/>
          <p:nvPr/>
        </p:nvSpPr>
        <p:spPr>
          <a:xfrm>
            <a:off x="868680" y="2852928"/>
            <a:ext cx="6309360" cy="365760"/>
          </a:xfrm>
          <a:prstGeom prst="rect">
            <a:avLst/>
          </a:prstGeom>
          <a:noFill/>
          <a:ln/>
        </p:spPr>
        <p:txBody>
          <a:bodyPr wrap="square" rtlCol="0" anchor="ctr"/>
          <a:lstStyle/>
          <a:p>
            <a:pPr indent="0" marL="0">
              <a:buNone/>
            </a:pPr>
            <a:r>
              <a:rPr lang="en-US" sz="1700" b="1" dirty="0">
                <a:solidFill>
                  <a:srgbClr val="0E3A36"/>
                </a:solidFill>
                <a:latin typeface="Calibri" pitchFamily="34" charset="0"/>
                <a:ea typeface="Calibri" pitchFamily="34" charset="-122"/>
                <a:cs typeface="Calibri" pitchFamily="34" charset="-120"/>
              </a:rPr>
              <a:t>Backend</a:t>
            </a:r>
            <a:endParaRPr lang="en-US" sz="1700" dirty="0"/>
          </a:p>
        </p:txBody>
      </p:sp>
      <p:sp>
        <p:nvSpPr>
          <p:cNvPr id="15" name="Text 12"/>
          <p:cNvSpPr/>
          <p:nvPr/>
        </p:nvSpPr>
        <p:spPr>
          <a:xfrm>
            <a:off x="868680" y="3246120"/>
            <a:ext cx="6355080" cy="658368"/>
          </a:xfrm>
          <a:prstGeom prst="rect">
            <a:avLst/>
          </a:prstGeom>
          <a:noFill/>
          <a:ln/>
        </p:spPr>
        <p:txBody>
          <a:bodyPr wrap="square" rtlCol="0" anchor="ctr"/>
          <a:lstStyle/>
          <a:p>
            <a:pPr indent="0" marL="0">
              <a:buNone/>
            </a:pPr>
            <a:r>
              <a:rPr lang="en-US" sz="1300" dirty="0">
                <a:solidFill>
                  <a:srgbClr val="16302E"/>
                </a:solidFill>
                <a:latin typeface="Calibri" pitchFamily="34" charset="0"/>
                <a:ea typeface="Calibri" pitchFamily="34" charset="-122"/>
                <a:cs typeface="Calibri" pitchFamily="34" charset="-120"/>
              </a:rPr>
              <a:t>API REST en Node.js 20 + Express 4. 35 endpoints documentados con Swagger.</a:t>
            </a:r>
            <a:endParaRPr lang="en-US" sz="1300" dirty="0"/>
          </a:p>
        </p:txBody>
      </p:sp>
      <p:sp>
        <p:nvSpPr>
          <p:cNvPr id="16" name="Shape 13"/>
          <p:cNvSpPr/>
          <p:nvPr/>
        </p:nvSpPr>
        <p:spPr>
          <a:xfrm>
            <a:off x="548640" y="4114800"/>
            <a:ext cx="6858000" cy="1234440"/>
          </a:xfrm>
          <a:prstGeom prst="roundRect">
            <a:avLst>
              <a:gd name="adj" fmla="val 5926"/>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7" name="Shape 14"/>
          <p:cNvSpPr/>
          <p:nvPr/>
        </p:nvSpPr>
        <p:spPr>
          <a:xfrm>
            <a:off x="548640" y="4114800"/>
            <a:ext cx="109728" cy="1234440"/>
          </a:xfrm>
          <a:prstGeom prst="rect">
            <a:avLst/>
          </a:prstGeom>
          <a:solidFill>
            <a:srgbClr val="1FA463"/>
          </a:solidFill>
          <a:ln/>
        </p:spPr>
      </p:sp>
      <p:sp>
        <p:nvSpPr>
          <p:cNvPr id="18" name="Text 15"/>
          <p:cNvSpPr/>
          <p:nvPr/>
        </p:nvSpPr>
        <p:spPr>
          <a:xfrm>
            <a:off x="868680" y="4224528"/>
            <a:ext cx="6309360" cy="365760"/>
          </a:xfrm>
          <a:prstGeom prst="rect">
            <a:avLst/>
          </a:prstGeom>
          <a:noFill/>
          <a:ln/>
        </p:spPr>
        <p:txBody>
          <a:bodyPr wrap="square" rtlCol="0" anchor="ctr"/>
          <a:lstStyle/>
          <a:p>
            <a:pPr indent="0" marL="0">
              <a:buNone/>
            </a:pPr>
            <a:r>
              <a:rPr lang="en-US" sz="1700" b="1" dirty="0">
                <a:solidFill>
                  <a:srgbClr val="0E3A36"/>
                </a:solidFill>
                <a:latin typeface="Calibri" pitchFamily="34" charset="0"/>
                <a:ea typeface="Calibri" pitchFamily="34" charset="-122"/>
                <a:cs typeface="Calibri" pitchFamily="34" charset="-120"/>
              </a:rPr>
              <a:t>Datos</a:t>
            </a:r>
            <a:endParaRPr lang="en-US" sz="1700" dirty="0"/>
          </a:p>
        </p:txBody>
      </p:sp>
      <p:sp>
        <p:nvSpPr>
          <p:cNvPr id="19" name="Text 16"/>
          <p:cNvSpPr/>
          <p:nvPr/>
        </p:nvSpPr>
        <p:spPr>
          <a:xfrm>
            <a:off x="868680" y="4617720"/>
            <a:ext cx="6355080" cy="658368"/>
          </a:xfrm>
          <a:prstGeom prst="rect">
            <a:avLst/>
          </a:prstGeom>
          <a:noFill/>
          <a:ln/>
        </p:spPr>
        <p:txBody>
          <a:bodyPr wrap="square" rtlCol="0" anchor="ctr"/>
          <a:lstStyle/>
          <a:p>
            <a:pPr indent="0" marL="0">
              <a:buNone/>
            </a:pPr>
            <a:r>
              <a:rPr lang="en-US" sz="1300" dirty="0">
                <a:solidFill>
                  <a:srgbClr val="16302E"/>
                </a:solidFill>
                <a:latin typeface="Calibri" pitchFamily="34" charset="0"/>
                <a:ea typeface="Calibri" pitchFamily="34" charset="-122"/>
                <a:cs typeface="Calibri" pitchFamily="34" charset="-120"/>
              </a:rPr>
              <a:t>PostgreSQL 16 + PostGIS 3.4. Modelo de 13 entidades con índice espacial GIST.</a:t>
            </a:r>
            <a:endParaRPr lang="en-US" sz="1300" dirty="0"/>
          </a:p>
        </p:txBody>
      </p:sp>
      <p:sp>
        <p:nvSpPr>
          <p:cNvPr id="20" name="Shape 17"/>
          <p:cNvSpPr/>
          <p:nvPr/>
        </p:nvSpPr>
        <p:spPr>
          <a:xfrm>
            <a:off x="548640" y="5486400"/>
            <a:ext cx="6858000" cy="713232"/>
          </a:xfrm>
          <a:prstGeom prst="roundRect">
            <a:avLst>
              <a:gd name="adj" fmla="val 10256"/>
            </a:avLst>
          </a:prstGeom>
          <a:solidFill>
            <a:srgbClr val="0E3A36"/>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21" name="Text 18"/>
          <p:cNvSpPr/>
          <p:nvPr/>
        </p:nvSpPr>
        <p:spPr>
          <a:xfrm>
            <a:off x="822960" y="5486400"/>
            <a:ext cx="6400800" cy="713232"/>
          </a:xfrm>
          <a:prstGeom prst="rect">
            <a:avLst/>
          </a:prstGeom>
          <a:noFill/>
          <a:ln/>
        </p:spPr>
        <p:txBody>
          <a:bodyPr wrap="square" rtlCol="0" anchor="ctr"/>
          <a:lstStyle/>
          <a:p>
            <a:pPr indent="0" marL="0">
              <a:buNone/>
            </a:pPr>
            <a:r>
              <a:rPr lang="en-US" sz="1400" dirty="0">
                <a:solidFill>
                  <a:srgbClr val="CFE6DE"/>
                </a:solidFill>
                <a:latin typeface="Calibri" pitchFamily="34" charset="0"/>
                <a:ea typeface="Calibri" pitchFamily="34" charset="-122"/>
                <a:cs typeface="Calibri" pitchFamily="34" charset="-120"/>
              </a:rPr>
              <a:t>Todo el sistema se levanta con un comando:   </a:t>
            </a:r>
            <a:pPr indent="0" marL="0">
              <a:buNone/>
            </a:pPr>
            <a:r>
              <a:rPr lang="en-US" sz="1400" b="1" dirty="0">
                <a:solidFill>
                  <a:srgbClr val="1FA463"/>
                </a:solidFill>
                <a:latin typeface="Consolas" pitchFamily="34" charset="0"/>
                <a:ea typeface="Consolas" pitchFamily="34" charset="-122"/>
                <a:cs typeface="Consolas" pitchFamily="34" charset="-120"/>
              </a:rPr>
              <a:t>docker compose up</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8F6"/>
        </a:solidFill>
      </p:bgPr>
    </p:bg>
    <p:spTree>
      <p:nvGrpSpPr>
        <p:cNvPr id="1" name=""/>
        <p:cNvGrpSpPr/>
        <p:nvPr/>
      </p:nvGrpSpPr>
      <p:grpSpPr>
        <a:xfrm>
          <a:off x="0" y="0"/>
          <a:ext cx="0" cy="0"/>
          <a:chOff x="0" y="0"/>
          <a:chExt cx="0" cy="0"/>
        </a:xfrm>
      </p:grpSpPr>
      <p:sp>
        <p:nvSpPr>
          <p:cNvPr id="2" name="Shape 0"/>
          <p:cNvSpPr/>
          <p:nvPr/>
        </p:nvSpPr>
        <p:spPr>
          <a:xfrm>
            <a:off x="548640" y="475488"/>
            <a:ext cx="146304" cy="475488"/>
          </a:xfrm>
          <a:prstGeom prst="roundRect">
            <a:avLst>
              <a:gd name="adj" fmla="val 31250"/>
            </a:avLst>
          </a:prstGeom>
          <a:solidFill>
            <a:srgbClr val="1FA463"/>
          </a:solidFill>
          <a:ln/>
        </p:spPr>
      </p:sp>
      <p:sp>
        <p:nvSpPr>
          <p:cNvPr id="3" name="Text 1"/>
          <p:cNvSpPr/>
          <p:nvPr/>
        </p:nvSpPr>
        <p:spPr>
          <a:xfrm>
            <a:off x="841248" y="411480"/>
            <a:ext cx="10789920" cy="640080"/>
          </a:xfrm>
          <a:prstGeom prst="rect">
            <a:avLst/>
          </a:prstGeom>
          <a:noFill/>
          <a:ln/>
        </p:spPr>
        <p:txBody>
          <a:bodyPr wrap="square" lIns="0" tIns="0" rIns="0" bIns="0" rtlCol="0" anchor="ctr"/>
          <a:lstStyle/>
          <a:p>
            <a:pPr indent="0" marL="0">
              <a:buNone/>
            </a:pPr>
            <a:r>
              <a:rPr lang="en-US" sz="2800" b="1" dirty="0">
                <a:solidFill>
                  <a:srgbClr val="0E3A36"/>
                </a:solidFill>
                <a:latin typeface="Calibri" pitchFamily="34" charset="0"/>
                <a:ea typeface="Calibri" pitchFamily="34" charset="-122"/>
                <a:cs typeface="Calibri" pitchFamily="34" charset="-120"/>
              </a:rPr>
              <a:t>Modelo de datos y rendimiento geoespacial</a:t>
            </a:r>
            <a:endParaRPr lang="en-US" sz="2800" dirty="0"/>
          </a:p>
        </p:txBody>
      </p:sp>
      <p:sp>
        <p:nvSpPr>
          <p:cNvPr id="4" name="Text 2"/>
          <p:cNvSpPr/>
          <p:nvPr/>
        </p:nvSpPr>
        <p:spPr>
          <a:xfrm>
            <a:off x="548640" y="6437376"/>
            <a:ext cx="5486400" cy="274320"/>
          </a:xfrm>
          <a:prstGeom prst="rect">
            <a:avLst/>
          </a:prstGeom>
          <a:noFill/>
          <a:ln/>
        </p:spPr>
        <p:txBody>
          <a:bodyPr wrap="square" rtlCol="0" anchor="ctr"/>
          <a:lstStyle/>
          <a:p>
            <a:pPr indent="0" marL="0">
              <a:buNone/>
            </a:pPr>
            <a:r>
              <a:rPr lang="en-US" sz="900" dirty="0">
                <a:solidFill>
                  <a:srgbClr val="5E6E6B"/>
                </a:solidFill>
                <a:latin typeface="Calibri" pitchFamily="34" charset="0"/>
                <a:ea typeface="Calibri" pitchFamily="34" charset="-122"/>
                <a:cs typeface="Calibri" pitchFamily="34" charset="-120"/>
              </a:rPr>
              <a:t>EcoAlerta · Trabajo Fin de Grado</a:t>
            </a:r>
            <a:endParaRPr lang="en-US" sz="900" dirty="0"/>
          </a:p>
        </p:txBody>
      </p:sp>
      <p:sp>
        <p:nvSpPr>
          <p:cNvPr id="5" name="Text 3"/>
          <p:cNvSpPr/>
          <p:nvPr/>
        </p:nvSpPr>
        <p:spPr>
          <a:xfrm>
            <a:off x="10725912" y="6437376"/>
            <a:ext cx="914400" cy="274320"/>
          </a:xfrm>
          <a:prstGeom prst="rect">
            <a:avLst/>
          </a:prstGeom>
          <a:noFill/>
          <a:ln/>
        </p:spPr>
        <p:txBody>
          <a:bodyPr wrap="square" rtlCol="0" anchor="ctr"/>
          <a:lstStyle/>
          <a:p>
            <a:pPr algn="r" indent="0" marL="0">
              <a:buNone/>
            </a:pPr>
            <a:r>
              <a:rPr lang="en-US" sz="900" dirty="0">
                <a:solidFill>
                  <a:srgbClr val="5E6E6B"/>
                </a:solidFill>
                <a:latin typeface="Calibri" pitchFamily="34" charset="0"/>
                <a:ea typeface="Calibri" pitchFamily="34" charset="-122"/>
                <a:cs typeface="Calibri" pitchFamily="34" charset="-120"/>
              </a:rPr>
              <a:t>6 / 13</a:t>
            </a:r>
            <a:endParaRPr lang="en-US" sz="900" dirty="0"/>
          </a:p>
        </p:txBody>
      </p:sp>
      <p:sp>
        <p:nvSpPr>
          <p:cNvPr id="6" name="Shape 4"/>
          <p:cNvSpPr/>
          <p:nvPr/>
        </p:nvSpPr>
        <p:spPr>
          <a:xfrm>
            <a:off x="548640" y="1325880"/>
            <a:ext cx="5943600" cy="4846320"/>
          </a:xfrm>
          <a:prstGeom prst="roundRect">
            <a:avLst>
              <a:gd name="adj" fmla="val 1509"/>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pic>
        <p:nvPicPr>
          <p:cNvPr id="7" name="Image 0" descr="/tmp/deck/assets/modelo-er.png">    </p:cNvPr>
          <p:cNvPicPr>
            <a:picLocks noChangeAspect="1"/>
          </p:cNvPicPr>
          <p:nvPr/>
        </p:nvPicPr>
        <p:blipFill>
          <a:blip r:embed="rId1"/>
          <a:stretch>
            <a:fillRect/>
          </a:stretch>
        </p:blipFill>
        <p:spPr>
          <a:xfrm>
            <a:off x="777240" y="1393846"/>
            <a:ext cx="5486400" cy="4436069"/>
          </a:xfrm>
          <a:prstGeom prst="rect">
            <a:avLst/>
          </a:prstGeom>
        </p:spPr>
      </p:pic>
      <p:sp>
        <p:nvSpPr>
          <p:cNvPr id="8" name="Text 5"/>
          <p:cNvSpPr/>
          <p:nvPr/>
        </p:nvSpPr>
        <p:spPr>
          <a:xfrm>
            <a:off x="548640" y="5870448"/>
            <a:ext cx="5943600" cy="274320"/>
          </a:xfrm>
          <a:prstGeom prst="rect">
            <a:avLst/>
          </a:prstGeom>
          <a:noFill/>
          <a:ln/>
        </p:spPr>
        <p:txBody>
          <a:bodyPr wrap="square" rtlCol="0" anchor="ctr"/>
          <a:lstStyle/>
          <a:p>
            <a:pPr algn="ctr" indent="0" marL="0">
              <a:buNone/>
            </a:pPr>
            <a:r>
              <a:rPr lang="en-US" sz="1100" i="1" dirty="0">
                <a:solidFill>
                  <a:srgbClr val="5E6E6B"/>
                </a:solidFill>
                <a:latin typeface="Calibri" pitchFamily="34" charset="0"/>
                <a:ea typeface="Calibri" pitchFamily="34" charset="-122"/>
                <a:cs typeface="Calibri" pitchFamily="34" charset="-120"/>
              </a:rPr>
              <a:t>Modelo entidad-relación · 13 entidades</a:t>
            </a:r>
            <a:endParaRPr lang="en-US" sz="1100" dirty="0"/>
          </a:p>
        </p:txBody>
      </p:sp>
      <p:sp>
        <p:nvSpPr>
          <p:cNvPr id="9" name="Shape 6"/>
          <p:cNvSpPr/>
          <p:nvPr/>
        </p:nvSpPr>
        <p:spPr>
          <a:xfrm>
            <a:off x="6720840" y="1325880"/>
            <a:ext cx="5074920" cy="2331720"/>
          </a:xfrm>
          <a:prstGeom prst="roundRect">
            <a:avLst>
              <a:gd name="adj" fmla="val 3137"/>
            </a:avLst>
          </a:prstGeom>
          <a:solidFill>
            <a:srgbClr val="0E3A36"/>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0" name="Text 7"/>
          <p:cNvSpPr/>
          <p:nvPr/>
        </p:nvSpPr>
        <p:spPr>
          <a:xfrm>
            <a:off x="6812280" y="1508760"/>
            <a:ext cx="4892040" cy="914400"/>
          </a:xfrm>
          <a:prstGeom prst="rect">
            <a:avLst/>
          </a:prstGeom>
          <a:noFill/>
          <a:ln/>
        </p:spPr>
        <p:txBody>
          <a:bodyPr wrap="square" rtlCol="0" anchor="ctr"/>
          <a:lstStyle/>
          <a:p>
            <a:pPr algn="ctr" indent="0" marL="0">
              <a:buNone/>
            </a:pPr>
            <a:r>
              <a:rPr lang="en-US" sz="5200" b="1" dirty="0">
                <a:solidFill>
                  <a:srgbClr val="1FA463"/>
                </a:solidFill>
                <a:latin typeface="Calibri" pitchFamily="34" charset="0"/>
                <a:ea typeface="Calibri" pitchFamily="34" charset="-122"/>
                <a:cs typeface="Calibri" pitchFamily="34" charset="-120"/>
              </a:rPr>
              <a:t>&lt; 500 ms</a:t>
            </a:r>
            <a:endParaRPr lang="en-US" sz="5200" dirty="0"/>
          </a:p>
        </p:txBody>
      </p:sp>
      <p:sp>
        <p:nvSpPr>
          <p:cNvPr id="11" name="Text 8"/>
          <p:cNvSpPr/>
          <p:nvPr/>
        </p:nvSpPr>
        <p:spPr>
          <a:xfrm>
            <a:off x="6995160" y="2606040"/>
            <a:ext cx="4526280" cy="914400"/>
          </a:xfrm>
          <a:prstGeom prst="rect">
            <a:avLst/>
          </a:prstGeom>
          <a:noFill/>
          <a:ln/>
        </p:spPr>
        <p:txBody>
          <a:bodyPr wrap="square" rtlCol="0" anchor="ctr"/>
          <a:lstStyle/>
          <a:p>
            <a:pPr algn="ctr" indent="0" marL="0">
              <a:buNone/>
            </a:pPr>
            <a:r>
              <a:rPr lang="en-US" sz="1400" dirty="0">
                <a:solidFill>
                  <a:srgbClr val="CFE6DE"/>
                </a:solidFill>
                <a:latin typeface="Calibri" pitchFamily="34" charset="0"/>
                <a:ea typeface="Calibri" pitchFamily="34" charset="-122"/>
                <a:cs typeface="Calibri" pitchFamily="34" charset="-120"/>
              </a:rPr>
              <a:t>Búsquedas geoespaciales en un radio de 5 km, incluso con miles de incidencias (&lt; 300 ms en local).</a:t>
            </a:r>
            <a:endParaRPr lang="en-US" sz="1400" dirty="0"/>
          </a:p>
        </p:txBody>
      </p:sp>
      <p:sp>
        <p:nvSpPr>
          <p:cNvPr id="12" name="Shape 9"/>
          <p:cNvSpPr/>
          <p:nvPr/>
        </p:nvSpPr>
        <p:spPr>
          <a:xfrm>
            <a:off x="6720840" y="3840480"/>
            <a:ext cx="5074920" cy="2331720"/>
          </a:xfrm>
          <a:prstGeom prst="roundRect">
            <a:avLst>
              <a:gd name="adj" fmla="val 3137"/>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pic>
        <p:nvPicPr>
          <p:cNvPr id="13" name="Image 1" descr="preencoded.png">    </p:cNvPr>
          <p:cNvPicPr>
            <a:picLocks noChangeAspect="1"/>
          </p:cNvPicPr>
          <p:nvPr/>
        </p:nvPicPr>
        <p:blipFill>
          <a:blip r:embed="rId2"/>
          <a:stretch>
            <a:fillRect/>
          </a:stretch>
        </p:blipFill>
        <p:spPr>
          <a:xfrm>
            <a:off x="6949440" y="4041648"/>
            <a:ext cx="384048" cy="384048"/>
          </a:xfrm>
          <a:prstGeom prst="rect">
            <a:avLst/>
          </a:prstGeom>
        </p:spPr>
      </p:pic>
      <p:sp>
        <p:nvSpPr>
          <p:cNvPr id="14" name="Text 10"/>
          <p:cNvSpPr/>
          <p:nvPr/>
        </p:nvSpPr>
        <p:spPr>
          <a:xfrm>
            <a:off x="7452360" y="4041648"/>
            <a:ext cx="4114800" cy="384048"/>
          </a:xfrm>
          <a:prstGeom prst="rect">
            <a:avLst/>
          </a:prstGeom>
          <a:noFill/>
          <a:ln/>
        </p:spPr>
        <p:txBody>
          <a:bodyPr wrap="square" rtlCol="0" anchor="ctr"/>
          <a:lstStyle/>
          <a:p>
            <a:pPr indent="0" marL="0">
              <a:buNone/>
            </a:pPr>
            <a:r>
              <a:rPr lang="en-US" sz="1500" b="1" dirty="0">
                <a:solidFill>
                  <a:srgbClr val="0E3A36"/>
                </a:solidFill>
                <a:latin typeface="Calibri" pitchFamily="34" charset="0"/>
                <a:ea typeface="Calibri" pitchFamily="34" charset="-122"/>
                <a:cs typeface="Calibri" pitchFamily="34" charset="-120"/>
              </a:rPr>
              <a:t>La clave técnica</a:t>
            </a:r>
            <a:endParaRPr lang="en-US" sz="1500" dirty="0"/>
          </a:p>
        </p:txBody>
      </p:sp>
      <p:sp>
        <p:nvSpPr>
          <p:cNvPr id="15" name="Text 11"/>
          <p:cNvSpPr/>
          <p:nvPr/>
        </p:nvSpPr>
        <p:spPr>
          <a:xfrm>
            <a:off x="6949440" y="4526280"/>
            <a:ext cx="4617720" cy="1554480"/>
          </a:xfrm>
          <a:prstGeom prst="rect">
            <a:avLst/>
          </a:prstGeom>
          <a:noFill/>
          <a:ln/>
        </p:spPr>
        <p:txBody>
          <a:bodyPr wrap="square" rtlCol="0" anchor="t"/>
          <a:lstStyle/>
          <a:p>
            <a:pPr indent="0" marL="0">
              <a:buNone/>
            </a:pPr>
            <a:r>
              <a:rPr lang="en-US" sz="1350" b="1" dirty="0">
                <a:solidFill>
                  <a:srgbClr val="12693E"/>
                </a:solidFill>
                <a:latin typeface="Consolas" pitchFamily="34" charset="0"/>
                <a:ea typeface="Consolas" pitchFamily="34" charset="-122"/>
                <a:cs typeface="Consolas" pitchFamily="34" charset="-120"/>
              </a:rPr>
              <a:t>ST_DWithin</a:t>
            </a:r>
            <a:pPr indent="0" marL="0">
              <a:buNone/>
            </a:pPr>
            <a:r>
              <a:rPr lang="en-US" sz="1350" dirty="0">
                <a:solidFill>
                  <a:srgbClr val="16302E"/>
                </a:solidFill>
                <a:latin typeface="Calibri" pitchFamily="34" charset="0"/>
                <a:ea typeface="Calibri" pitchFamily="34" charset="-122"/>
                <a:cs typeface="Calibri" pitchFamily="34" charset="-120"/>
              </a:rPr>
              <a:t> sobre un </a:t>
            </a:r>
            <a:pPr indent="0" marL="0">
              <a:buNone/>
            </a:pPr>
            <a:r>
              <a:rPr lang="en-US" sz="1350" b="1" dirty="0">
                <a:solidFill>
                  <a:srgbClr val="12693E"/>
                </a:solidFill>
                <a:latin typeface="Calibri" pitchFamily="34" charset="0"/>
                <a:ea typeface="Calibri" pitchFamily="34" charset="-122"/>
                <a:cs typeface="Calibri" pitchFamily="34" charset="-120"/>
              </a:rPr>
              <a:t>índice GIST</a:t>
            </a:r>
            <a:pPr indent="0" marL="0">
              <a:buNone/>
            </a:pPr>
            <a:r>
              <a:rPr lang="en-US" sz="1350" dirty="0">
                <a:solidFill>
                  <a:srgbClr val="16302E"/>
                </a:solidFill>
                <a:latin typeface="Calibri" pitchFamily="34" charset="0"/>
                <a:ea typeface="Calibri" pitchFamily="34" charset="-122"/>
                <a:cs typeface="Calibri" pitchFamily="34" charset="-120"/>
              </a:rPr>
              <a:t> descarta filas antes de calcular distancias. Sustituye a ST_Distance + WHERE, que recorría toda la tabla.</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8F6"/>
        </a:solidFill>
      </p:bgPr>
    </p:bg>
    <p:spTree>
      <p:nvGrpSpPr>
        <p:cNvPr id="1" name=""/>
        <p:cNvGrpSpPr/>
        <p:nvPr/>
      </p:nvGrpSpPr>
      <p:grpSpPr>
        <a:xfrm>
          <a:off x="0" y="0"/>
          <a:ext cx="0" cy="0"/>
          <a:chOff x="0" y="0"/>
          <a:chExt cx="0" cy="0"/>
        </a:xfrm>
      </p:grpSpPr>
      <p:sp>
        <p:nvSpPr>
          <p:cNvPr id="2" name="Shape 0"/>
          <p:cNvSpPr/>
          <p:nvPr/>
        </p:nvSpPr>
        <p:spPr>
          <a:xfrm>
            <a:off x="548640" y="475488"/>
            <a:ext cx="146304" cy="475488"/>
          </a:xfrm>
          <a:prstGeom prst="roundRect">
            <a:avLst>
              <a:gd name="adj" fmla="val 31250"/>
            </a:avLst>
          </a:prstGeom>
          <a:solidFill>
            <a:srgbClr val="1FA463"/>
          </a:solidFill>
          <a:ln/>
        </p:spPr>
      </p:sp>
      <p:sp>
        <p:nvSpPr>
          <p:cNvPr id="3" name="Text 1"/>
          <p:cNvSpPr/>
          <p:nvPr/>
        </p:nvSpPr>
        <p:spPr>
          <a:xfrm>
            <a:off x="841248" y="411480"/>
            <a:ext cx="10789920" cy="640080"/>
          </a:xfrm>
          <a:prstGeom prst="rect">
            <a:avLst/>
          </a:prstGeom>
          <a:noFill/>
          <a:ln/>
        </p:spPr>
        <p:txBody>
          <a:bodyPr wrap="square" lIns="0" tIns="0" rIns="0" bIns="0" rtlCol="0" anchor="ctr"/>
          <a:lstStyle/>
          <a:p>
            <a:pPr indent="0" marL="0">
              <a:buNone/>
            </a:pPr>
            <a:r>
              <a:rPr lang="en-US" sz="2800" b="1" dirty="0">
                <a:solidFill>
                  <a:srgbClr val="0E3A36"/>
                </a:solidFill>
                <a:latin typeface="Calibri" pitchFamily="34" charset="0"/>
                <a:ea typeface="Calibri" pitchFamily="34" charset="-122"/>
                <a:cs typeface="Calibri" pitchFamily="34" charset="-120"/>
              </a:rPr>
              <a:t>Seguridad cercana a producción</a:t>
            </a:r>
            <a:endParaRPr lang="en-US" sz="2800" dirty="0"/>
          </a:p>
        </p:txBody>
      </p:sp>
      <p:sp>
        <p:nvSpPr>
          <p:cNvPr id="4" name="Text 2"/>
          <p:cNvSpPr/>
          <p:nvPr/>
        </p:nvSpPr>
        <p:spPr>
          <a:xfrm>
            <a:off x="548640" y="6437376"/>
            <a:ext cx="5486400" cy="274320"/>
          </a:xfrm>
          <a:prstGeom prst="rect">
            <a:avLst/>
          </a:prstGeom>
          <a:noFill/>
          <a:ln/>
        </p:spPr>
        <p:txBody>
          <a:bodyPr wrap="square" rtlCol="0" anchor="ctr"/>
          <a:lstStyle/>
          <a:p>
            <a:pPr indent="0" marL="0">
              <a:buNone/>
            </a:pPr>
            <a:r>
              <a:rPr lang="en-US" sz="900" dirty="0">
                <a:solidFill>
                  <a:srgbClr val="5E6E6B"/>
                </a:solidFill>
                <a:latin typeface="Calibri" pitchFamily="34" charset="0"/>
                <a:ea typeface="Calibri" pitchFamily="34" charset="-122"/>
                <a:cs typeface="Calibri" pitchFamily="34" charset="-120"/>
              </a:rPr>
              <a:t>EcoAlerta · Trabajo Fin de Grado</a:t>
            </a:r>
            <a:endParaRPr lang="en-US" sz="900" dirty="0"/>
          </a:p>
        </p:txBody>
      </p:sp>
      <p:sp>
        <p:nvSpPr>
          <p:cNvPr id="5" name="Text 3"/>
          <p:cNvSpPr/>
          <p:nvPr/>
        </p:nvSpPr>
        <p:spPr>
          <a:xfrm>
            <a:off x="10725912" y="6437376"/>
            <a:ext cx="914400" cy="274320"/>
          </a:xfrm>
          <a:prstGeom prst="rect">
            <a:avLst/>
          </a:prstGeom>
          <a:noFill/>
          <a:ln/>
        </p:spPr>
        <p:txBody>
          <a:bodyPr wrap="square" rtlCol="0" anchor="ctr"/>
          <a:lstStyle/>
          <a:p>
            <a:pPr algn="r" indent="0" marL="0">
              <a:buNone/>
            </a:pPr>
            <a:r>
              <a:rPr lang="en-US" sz="900" dirty="0">
                <a:solidFill>
                  <a:srgbClr val="5E6E6B"/>
                </a:solidFill>
                <a:latin typeface="Calibri" pitchFamily="34" charset="0"/>
                <a:ea typeface="Calibri" pitchFamily="34" charset="-122"/>
                <a:cs typeface="Calibri" pitchFamily="34" charset="-120"/>
              </a:rPr>
              <a:t>7 / 13</a:t>
            </a:r>
            <a:endParaRPr lang="en-US" sz="900" dirty="0"/>
          </a:p>
        </p:txBody>
      </p:sp>
      <p:sp>
        <p:nvSpPr>
          <p:cNvPr id="6" name="Shape 4"/>
          <p:cNvSpPr/>
          <p:nvPr/>
        </p:nvSpPr>
        <p:spPr>
          <a:xfrm>
            <a:off x="548640" y="1371600"/>
            <a:ext cx="5458968" cy="1207008"/>
          </a:xfrm>
          <a:prstGeom prst="roundRect">
            <a:avLst>
              <a:gd name="adj" fmla="val 6061"/>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7" name="Shape 5"/>
          <p:cNvSpPr/>
          <p:nvPr/>
        </p:nvSpPr>
        <p:spPr>
          <a:xfrm>
            <a:off x="777240" y="1682496"/>
            <a:ext cx="603504" cy="603504"/>
          </a:xfrm>
          <a:prstGeom prst="ellipse">
            <a:avLst/>
          </a:prstGeom>
          <a:solidFill>
            <a:srgbClr val="E3F3EA"/>
          </a:solidFill>
          <a:ln/>
        </p:spPr>
      </p:sp>
      <p:pic>
        <p:nvPicPr>
          <p:cNvPr id="8" name="Image 0" descr="preencoded.png">    </p:cNvPr>
          <p:cNvPicPr>
            <a:picLocks noChangeAspect="1"/>
          </p:cNvPicPr>
          <p:nvPr/>
        </p:nvPicPr>
        <p:blipFill>
          <a:blip r:embed="rId1"/>
          <a:stretch>
            <a:fillRect/>
          </a:stretch>
        </p:blipFill>
        <p:spPr>
          <a:xfrm>
            <a:off x="932688" y="1837944"/>
            <a:ext cx="292608" cy="292608"/>
          </a:xfrm>
          <a:prstGeom prst="rect">
            <a:avLst/>
          </a:prstGeom>
        </p:spPr>
      </p:pic>
      <p:sp>
        <p:nvSpPr>
          <p:cNvPr id="9" name="Text 6"/>
          <p:cNvSpPr/>
          <p:nvPr/>
        </p:nvSpPr>
        <p:spPr>
          <a:xfrm>
            <a:off x="1554480" y="1554480"/>
            <a:ext cx="4270248" cy="384048"/>
          </a:xfrm>
          <a:prstGeom prst="rect">
            <a:avLst/>
          </a:prstGeom>
          <a:noFill/>
          <a:ln/>
        </p:spPr>
        <p:txBody>
          <a:bodyPr wrap="square" rtlCol="0" anchor="ctr"/>
          <a:lstStyle/>
          <a:p>
            <a:pPr indent="0" marL="0">
              <a:buNone/>
            </a:pPr>
            <a:r>
              <a:rPr lang="en-US" sz="1500" b="1" dirty="0">
                <a:solidFill>
                  <a:srgbClr val="0E3A36"/>
                </a:solidFill>
                <a:latin typeface="Calibri" pitchFamily="34" charset="0"/>
                <a:ea typeface="Calibri" pitchFamily="34" charset="-122"/>
                <a:cs typeface="Calibri" pitchFamily="34" charset="-120"/>
              </a:rPr>
              <a:t>JWT dual con rotación</a:t>
            </a:r>
            <a:endParaRPr lang="en-US" sz="1500" dirty="0"/>
          </a:p>
        </p:txBody>
      </p:sp>
      <p:sp>
        <p:nvSpPr>
          <p:cNvPr id="10" name="Text 7"/>
          <p:cNvSpPr/>
          <p:nvPr/>
        </p:nvSpPr>
        <p:spPr>
          <a:xfrm>
            <a:off x="1554480" y="1938528"/>
            <a:ext cx="4270248" cy="54864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Access de 15 min + refresh de 7 días que rota en cada uso.</a:t>
            </a:r>
            <a:endParaRPr lang="en-US" sz="1200" dirty="0"/>
          </a:p>
        </p:txBody>
      </p:sp>
      <p:sp>
        <p:nvSpPr>
          <p:cNvPr id="11" name="Shape 8"/>
          <p:cNvSpPr/>
          <p:nvPr/>
        </p:nvSpPr>
        <p:spPr>
          <a:xfrm>
            <a:off x="6537960" y="1371600"/>
            <a:ext cx="5458968" cy="1207008"/>
          </a:xfrm>
          <a:prstGeom prst="roundRect">
            <a:avLst>
              <a:gd name="adj" fmla="val 6061"/>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2" name="Shape 9"/>
          <p:cNvSpPr/>
          <p:nvPr/>
        </p:nvSpPr>
        <p:spPr>
          <a:xfrm>
            <a:off x="6766560" y="1682496"/>
            <a:ext cx="603504" cy="603504"/>
          </a:xfrm>
          <a:prstGeom prst="ellipse">
            <a:avLst/>
          </a:prstGeom>
          <a:solidFill>
            <a:srgbClr val="E3F3EA"/>
          </a:solidFill>
          <a:ln/>
        </p:spPr>
      </p:sp>
      <p:pic>
        <p:nvPicPr>
          <p:cNvPr id="13" name="Image 1" descr="preencoded.png">    </p:cNvPr>
          <p:cNvPicPr>
            <a:picLocks noChangeAspect="1"/>
          </p:cNvPicPr>
          <p:nvPr/>
        </p:nvPicPr>
        <p:blipFill>
          <a:blip r:embed="rId2"/>
          <a:stretch>
            <a:fillRect/>
          </a:stretch>
        </p:blipFill>
        <p:spPr>
          <a:xfrm>
            <a:off x="6922008" y="1837944"/>
            <a:ext cx="292608" cy="292608"/>
          </a:xfrm>
          <a:prstGeom prst="rect">
            <a:avLst/>
          </a:prstGeom>
        </p:spPr>
      </p:pic>
      <p:sp>
        <p:nvSpPr>
          <p:cNvPr id="14" name="Text 10"/>
          <p:cNvSpPr/>
          <p:nvPr/>
        </p:nvSpPr>
        <p:spPr>
          <a:xfrm>
            <a:off x="7543800" y="1554480"/>
            <a:ext cx="4270248" cy="384048"/>
          </a:xfrm>
          <a:prstGeom prst="rect">
            <a:avLst/>
          </a:prstGeom>
          <a:noFill/>
          <a:ln/>
        </p:spPr>
        <p:txBody>
          <a:bodyPr wrap="square" rtlCol="0" anchor="ctr"/>
          <a:lstStyle/>
          <a:p>
            <a:pPr indent="0" marL="0">
              <a:buNone/>
            </a:pPr>
            <a:r>
              <a:rPr lang="en-US" sz="1500" b="1" dirty="0">
                <a:solidFill>
                  <a:srgbClr val="0E3A36"/>
                </a:solidFill>
                <a:latin typeface="Calibri" pitchFamily="34" charset="0"/>
                <a:ea typeface="Calibri" pitchFamily="34" charset="-122"/>
                <a:cs typeface="Calibri" pitchFamily="34" charset="-120"/>
              </a:rPr>
              <a:t>2FA TOTP cifrado</a:t>
            </a:r>
            <a:endParaRPr lang="en-US" sz="1500" dirty="0"/>
          </a:p>
        </p:txBody>
      </p:sp>
      <p:sp>
        <p:nvSpPr>
          <p:cNvPr id="15" name="Text 11"/>
          <p:cNvSpPr/>
          <p:nvPr/>
        </p:nvSpPr>
        <p:spPr>
          <a:xfrm>
            <a:off x="7543800" y="1938528"/>
            <a:ext cx="4270248" cy="54864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Secreto del segundo factor cifrado en BD con AES-256.</a:t>
            </a:r>
            <a:endParaRPr lang="en-US" sz="1200" dirty="0"/>
          </a:p>
        </p:txBody>
      </p:sp>
      <p:sp>
        <p:nvSpPr>
          <p:cNvPr id="16" name="Shape 12"/>
          <p:cNvSpPr/>
          <p:nvPr/>
        </p:nvSpPr>
        <p:spPr>
          <a:xfrm>
            <a:off x="548640" y="2724912"/>
            <a:ext cx="5458968" cy="1207008"/>
          </a:xfrm>
          <a:prstGeom prst="roundRect">
            <a:avLst>
              <a:gd name="adj" fmla="val 6061"/>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7" name="Shape 13"/>
          <p:cNvSpPr/>
          <p:nvPr/>
        </p:nvSpPr>
        <p:spPr>
          <a:xfrm>
            <a:off x="777240" y="3035808"/>
            <a:ext cx="603504" cy="603504"/>
          </a:xfrm>
          <a:prstGeom prst="ellipse">
            <a:avLst/>
          </a:prstGeom>
          <a:solidFill>
            <a:srgbClr val="E3F3EA"/>
          </a:solidFill>
          <a:ln/>
        </p:spPr>
      </p:sp>
      <p:pic>
        <p:nvPicPr>
          <p:cNvPr id="18" name="Image 2" descr="preencoded.png">    </p:cNvPr>
          <p:cNvPicPr>
            <a:picLocks noChangeAspect="1"/>
          </p:cNvPicPr>
          <p:nvPr/>
        </p:nvPicPr>
        <p:blipFill>
          <a:blip r:embed="rId3"/>
          <a:stretch>
            <a:fillRect/>
          </a:stretch>
        </p:blipFill>
        <p:spPr>
          <a:xfrm>
            <a:off x="932688" y="3191256"/>
            <a:ext cx="292608" cy="292608"/>
          </a:xfrm>
          <a:prstGeom prst="rect">
            <a:avLst/>
          </a:prstGeom>
        </p:spPr>
      </p:pic>
      <p:sp>
        <p:nvSpPr>
          <p:cNvPr id="19" name="Text 14"/>
          <p:cNvSpPr/>
          <p:nvPr/>
        </p:nvSpPr>
        <p:spPr>
          <a:xfrm>
            <a:off x="1554480" y="2907792"/>
            <a:ext cx="4270248" cy="384048"/>
          </a:xfrm>
          <a:prstGeom prst="rect">
            <a:avLst/>
          </a:prstGeom>
          <a:noFill/>
          <a:ln/>
        </p:spPr>
        <p:txBody>
          <a:bodyPr wrap="square" rtlCol="0" anchor="ctr"/>
          <a:lstStyle/>
          <a:p>
            <a:pPr indent="0" marL="0">
              <a:buNone/>
            </a:pPr>
            <a:r>
              <a:rPr lang="en-US" sz="1500" b="1" dirty="0">
                <a:solidFill>
                  <a:srgbClr val="0E3A36"/>
                </a:solidFill>
                <a:latin typeface="Calibri" pitchFamily="34" charset="0"/>
                <a:ea typeface="Calibri" pitchFamily="34" charset="-122"/>
                <a:cs typeface="Calibri" pitchFamily="34" charset="-120"/>
              </a:rPr>
              <a:t>Rate limiting</a:t>
            </a:r>
            <a:endParaRPr lang="en-US" sz="1500" dirty="0"/>
          </a:p>
        </p:txBody>
      </p:sp>
      <p:sp>
        <p:nvSpPr>
          <p:cNvPr id="20" name="Text 15"/>
          <p:cNvSpPr/>
          <p:nvPr/>
        </p:nvSpPr>
        <p:spPr>
          <a:xfrm>
            <a:off x="1554480" y="3291840"/>
            <a:ext cx="4270248" cy="54864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Límite de peticiones por IP y por usuario.</a:t>
            </a:r>
            <a:endParaRPr lang="en-US" sz="1200" dirty="0"/>
          </a:p>
        </p:txBody>
      </p:sp>
      <p:sp>
        <p:nvSpPr>
          <p:cNvPr id="21" name="Shape 16"/>
          <p:cNvSpPr/>
          <p:nvPr/>
        </p:nvSpPr>
        <p:spPr>
          <a:xfrm>
            <a:off x="6537960" y="2724912"/>
            <a:ext cx="5458968" cy="1207008"/>
          </a:xfrm>
          <a:prstGeom prst="roundRect">
            <a:avLst>
              <a:gd name="adj" fmla="val 6061"/>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22" name="Shape 17"/>
          <p:cNvSpPr/>
          <p:nvPr/>
        </p:nvSpPr>
        <p:spPr>
          <a:xfrm>
            <a:off x="6766560" y="3035808"/>
            <a:ext cx="603504" cy="603504"/>
          </a:xfrm>
          <a:prstGeom prst="ellipse">
            <a:avLst/>
          </a:prstGeom>
          <a:solidFill>
            <a:srgbClr val="E3F3EA"/>
          </a:solidFill>
          <a:ln/>
        </p:spPr>
      </p:sp>
      <p:pic>
        <p:nvPicPr>
          <p:cNvPr id="23" name="Image 3" descr="preencoded.png">    </p:cNvPr>
          <p:cNvPicPr>
            <a:picLocks noChangeAspect="1"/>
          </p:cNvPicPr>
          <p:nvPr/>
        </p:nvPicPr>
        <p:blipFill>
          <a:blip r:embed="rId4"/>
          <a:stretch>
            <a:fillRect/>
          </a:stretch>
        </p:blipFill>
        <p:spPr>
          <a:xfrm>
            <a:off x="6922008" y="3191256"/>
            <a:ext cx="292608" cy="292608"/>
          </a:xfrm>
          <a:prstGeom prst="rect">
            <a:avLst/>
          </a:prstGeom>
        </p:spPr>
      </p:pic>
      <p:sp>
        <p:nvSpPr>
          <p:cNvPr id="24" name="Text 18"/>
          <p:cNvSpPr/>
          <p:nvPr/>
        </p:nvSpPr>
        <p:spPr>
          <a:xfrm>
            <a:off x="7543800" y="2907792"/>
            <a:ext cx="4270248" cy="384048"/>
          </a:xfrm>
          <a:prstGeom prst="rect">
            <a:avLst/>
          </a:prstGeom>
          <a:noFill/>
          <a:ln/>
        </p:spPr>
        <p:txBody>
          <a:bodyPr wrap="square" rtlCol="0" anchor="ctr"/>
          <a:lstStyle/>
          <a:p>
            <a:pPr indent="0" marL="0">
              <a:buNone/>
            </a:pPr>
            <a:r>
              <a:rPr lang="en-US" sz="1500" b="1" dirty="0">
                <a:solidFill>
                  <a:srgbClr val="0E3A36"/>
                </a:solidFill>
                <a:latin typeface="Calibri" pitchFamily="34" charset="0"/>
                <a:ea typeface="Calibri" pitchFamily="34" charset="-122"/>
                <a:cs typeface="Calibri" pitchFamily="34" charset="-120"/>
              </a:rPr>
              <a:t>Cloudflare Turnstile</a:t>
            </a:r>
            <a:endParaRPr lang="en-US" sz="1500" dirty="0"/>
          </a:p>
        </p:txBody>
      </p:sp>
      <p:sp>
        <p:nvSpPr>
          <p:cNvPr id="25" name="Text 19"/>
          <p:cNvSpPr/>
          <p:nvPr/>
        </p:nvSpPr>
        <p:spPr>
          <a:xfrm>
            <a:off x="7543800" y="3291840"/>
            <a:ext cx="4270248" cy="54864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Captcha invisible contra bots en registro y login.</a:t>
            </a:r>
            <a:endParaRPr lang="en-US" sz="1200" dirty="0"/>
          </a:p>
        </p:txBody>
      </p:sp>
      <p:sp>
        <p:nvSpPr>
          <p:cNvPr id="26" name="Shape 20"/>
          <p:cNvSpPr/>
          <p:nvPr/>
        </p:nvSpPr>
        <p:spPr>
          <a:xfrm>
            <a:off x="548640" y="4078224"/>
            <a:ext cx="5458968" cy="1207008"/>
          </a:xfrm>
          <a:prstGeom prst="roundRect">
            <a:avLst>
              <a:gd name="adj" fmla="val 6061"/>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27" name="Shape 21"/>
          <p:cNvSpPr/>
          <p:nvPr/>
        </p:nvSpPr>
        <p:spPr>
          <a:xfrm>
            <a:off x="777240" y="4389120"/>
            <a:ext cx="603504" cy="603504"/>
          </a:xfrm>
          <a:prstGeom prst="ellipse">
            <a:avLst/>
          </a:prstGeom>
          <a:solidFill>
            <a:srgbClr val="E3F3EA"/>
          </a:solidFill>
          <a:ln/>
        </p:spPr>
      </p:sp>
      <p:pic>
        <p:nvPicPr>
          <p:cNvPr id="28" name="Image 4" descr="preencoded.png">    </p:cNvPr>
          <p:cNvPicPr>
            <a:picLocks noChangeAspect="1"/>
          </p:cNvPicPr>
          <p:nvPr/>
        </p:nvPicPr>
        <p:blipFill>
          <a:blip r:embed="rId5"/>
          <a:stretch>
            <a:fillRect/>
          </a:stretch>
        </p:blipFill>
        <p:spPr>
          <a:xfrm>
            <a:off x="932688" y="4544568"/>
            <a:ext cx="292608" cy="292608"/>
          </a:xfrm>
          <a:prstGeom prst="rect">
            <a:avLst/>
          </a:prstGeom>
        </p:spPr>
      </p:pic>
      <p:sp>
        <p:nvSpPr>
          <p:cNvPr id="29" name="Text 22"/>
          <p:cNvSpPr/>
          <p:nvPr/>
        </p:nvSpPr>
        <p:spPr>
          <a:xfrm>
            <a:off x="1554480" y="4261104"/>
            <a:ext cx="4270248" cy="384048"/>
          </a:xfrm>
          <a:prstGeom prst="rect">
            <a:avLst/>
          </a:prstGeom>
          <a:noFill/>
          <a:ln/>
        </p:spPr>
        <p:txBody>
          <a:bodyPr wrap="square" rtlCol="0" anchor="ctr"/>
          <a:lstStyle/>
          <a:p>
            <a:pPr indent="0" marL="0">
              <a:buNone/>
            </a:pPr>
            <a:r>
              <a:rPr lang="en-US" sz="1500" b="1" dirty="0">
                <a:solidFill>
                  <a:srgbClr val="0E3A36"/>
                </a:solidFill>
                <a:latin typeface="Calibri" pitchFamily="34" charset="0"/>
                <a:ea typeface="Calibri" pitchFamily="34" charset="-122"/>
                <a:cs typeface="Calibri" pitchFamily="34" charset="-120"/>
              </a:rPr>
              <a:t>Audit log de seguridad</a:t>
            </a:r>
            <a:endParaRPr lang="en-US" sz="1500" dirty="0"/>
          </a:p>
        </p:txBody>
      </p:sp>
      <p:sp>
        <p:nvSpPr>
          <p:cNvPr id="30" name="Text 23"/>
          <p:cNvSpPr/>
          <p:nvPr/>
        </p:nvSpPr>
        <p:spPr>
          <a:xfrm>
            <a:off x="1554480" y="4645152"/>
            <a:ext cx="4270248" cy="54864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Registro trazable de acciones sensibles.</a:t>
            </a:r>
            <a:endParaRPr lang="en-US" sz="1200" dirty="0"/>
          </a:p>
        </p:txBody>
      </p:sp>
      <p:sp>
        <p:nvSpPr>
          <p:cNvPr id="31" name="Shape 24"/>
          <p:cNvSpPr/>
          <p:nvPr/>
        </p:nvSpPr>
        <p:spPr>
          <a:xfrm>
            <a:off x="6537960" y="4078224"/>
            <a:ext cx="5458968" cy="1207008"/>
          </a:xfrm>
          <a:prstGeom prst="roundRect">
            <a:avLst>
              <a:gd name="adj" fmla="val 6061"/>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32" name="Shape 25"/>
          <p:cNvSpPr/>
          <p:nvPr/>
        </p:nvSpPr>
        <p:spPr>
          <a:xfrm>
            <a:off x="6766560" y="4389120"/>
            <a:ext cx="603504" cy="603504"/>
          </a:xfrm>
          <a:prstGeom prst="ellipse">
            <a:avLst/>
          </a:prstGeom>
          <a:solidFill>
            <a:srgbClr val="E3F3EA"/>
          </a:solidFill>
          <a:ln/>
        </p:spPr>
      </p:sp>
      <p:pic>
        <p:nvPicPr>
          <p:cNvPr id="33" name="Image 5" descr="preencoded.png">    </p:cNvPr>
          <p:cNvPicPr>
            <a:picLocks noChangeAspect="1"/>
          </p:cNvPicPr>
          <p:nvPr/>
        </p:nvPicPr>
        <p:blipFill>
          <a:blip r:embed="rId6"/>
          <a:stretch>
            <a:fillRect/>
          </a:stretch>
        </p:blipFill>
        <p:spPr>
          <a:xfrm>
            <a:off x="6922008" y="4544568"/>
            <a:ext cx="292608" cy="292608"/>
          </a:xfrm>
          <a:prstGeom prst="rect">
            <a:avLst/>
          </a:prstGeom>
        </p:spPr>
      </p:pic>
      <p:sp>
        <p:nvSpPr>
          <p:cNvPr id="34" name="Text 26"/>
          <p:cNvSpPr/>
          <p:nvPr/>
        </p:nvSpPr>
        <p:spPr>
          <a:xfrm>
            <a:off x="7543800" y="4261104"/>
            <a:ext cx="4270248" cy="384048"/>
          </a:xfrm>
          <a:prstGeom prst="rect">
            <a:avLst/>
          </a:prstGeom>
          <a:noFill/>
          <a:ln/>
        </p:spPr>
        <p:txBody>
          <a:bodyPr wrap="square" rtlCol="0" anchor="ctr"/>
          <a:lstStyle/>
          <a:p>
            <a:pPr indent="0" marL="0">
              <a:buNone/>
            </a:pPr>
            <a:r>
              <a:rPr lang="en-US" sz="1500" b="1" dirty="0">
                <a:solidFill>
                  <a:srgbClr val="0E3A36"/>
                </a:solidFill>
                <a:latin typeface="Calibri" pitchFamily="34" charset="0"/>
                <a:ea typeface="Calibri" pitchFamily="34" charset="-122"/>
                <a:cs typeface="Calibri" pitchFamily="34" charset="-120"/>
              </a:rPr>
              <a:t>bcrypt (10 rondas)</a:t>
            </a:r>
            <a:endParaRPr lang="en-US" sz="1500" dirty="0"/>
          </a:p>
        </p:txBody>
      </p:sp>
      <p:sp>
        <p:nvSpPr>
          <p:cNvPr id="35" name="Text 27"/>
          <p:cNvSpPr/>
          <p:nvPr/>
        </p:nvSpPr>
        <p:spPr>
          <a:xfrm>
            <a:off x="7543800" y="4645152"/>
            <a:ext cx="4270248" cy="54864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Hash lento con salt para las contraseñas.</a:t>
            </a:r>
            <a:endParaRPr lang="en-US" sz="1200" dirty="0"/>
          </a:p>
        </p:txBody>
      </p:sp>
      <p:sp>
        <p:nvSpPr>
          <p:cNvPr id="36" name="Text 28"/>
          <p:cNvSpPr/>
          <p:nvPr/>
        </p:nvSpPr>
        <p:spPr>
          <a:xfrm>
            <a:off x="548640" y="5943600"/>
            <a:ext cx="11064240" cy="365760"/>
          </a:xfrm>
          <a:prstGeom prst="rect">
            <a:avLst/>
          </a:prstGeom>
          <a:noFill/>
          <a:ln/>
        </p:spPr>
        <p:txBody>
          <a:bodyPr wrap="square" rtlCol="0" anchor="ctr"/>
          <a:lstStyle/>
          <a:p>
            <a:pPr indent="0" marL="0">
              <a:buNone/>
            </a:pPr>
            <a:r>
              <a:rPr lang="en-US" sz="1400" b="1" dirty="0">
                <a:solidFill>
                  <a:srgbClr val="12693E"/>
                </a:solidFill>
                <a:latin typeface="Calibri" pitchFamily="34" charset="0"/>
                <a:ea typeface="Calibri" pitchFamily="34" charset="-122"/>
                <a:cs typeface="Calibri" pitchFamily="34" charset="-120"/>
              </a:rPr>
              <a:t>Nada de esto exigía el enunciado: </a:t>
            </a:r>
            <a:pPr indent="0" marL="0">
              <a:buNone/>
            </a:pPr>
            <a:r>
              <a:rPr lang="en-US" sz="1400" dirty="0">
                <a:solidFill>
                  <a:srgbClr val="5E6E6B"/>
                </a:solidFill>
                <a:latin typeface="Calibri" pitchFamily="34" charset="0"/>
                <a:ea typeface="Calibri" pitchFamily="34" charset="-122"/>
                <a:cs typeface="Calibri" pitchFamily="34" charset="-120"/>
              </a:rPr>
              <a:t>lo añadí para acercar el sistema a un nivel de producción.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8F6"/>
        </a:solidFill>
      </p:bgPr>
    </p:bg>
    <p:spTree>
      <p:nvGrpSpPr>
        <p:cNvPr id="1" name=""/>
        <p:cNvGrpSpPr/>
        <p:nvPr/>
      </p:nvGrpSpPr>
      <p:grpSpPr>
        <a:xfrm>
          <a:off x="0" y="0"/>
          <a:ext cx="0" cy="0"/>
          <a:chOff x="0" y="0"/>
          <a:chExt cx="0" cy="0"/>
        </a:xfrm>
      </p:grpSpPr>
      <p:sp>
        <p:nvSpPr>
          <p:cNvPr id="2" name="Shape 0"/>
          <p:cNvSpPr/>
          <p:nvPr/>
        </p:nvSpPr>
        <p:spPr>
          <a:xfrm>
            <a:off x="548640" y="475488"/>
            <a:ext cx="146304" cy="475488"/>
          </a:xfrm>
          <a:prstGeom prst="roundRect">
            <a:avLst>
              <a:gd name="adj" fmla="val 31250"/>
            </a:avLst>
          </a:prstGeom>
          <a:solidFill>
            <a:srgbClr val="1FA463"/>
          </a:solidFill>
          <a:ln/>
        </p:spPr>
      </p:sp>
      <p:sp>
        <p:nvSpPr>
          <p:cNvPr id="3" name="Text 1"/>
          <p:cNvSpPr/>
          <p:nvPr/>
        </p:nvSpPr>
        <p:spPr>
          <a:xfrm>
            <a:off x="841248" y="411480"/>
            <a:ext cx="10789920" cy="640080"/>
          </a:xfrm>
          <a:prstGeom prst="rect">
            <a:avLst/>
          </a:prstGeom>
          <a:noFill/>
          <a:ln/>
        </p:spPr>
        <p:txBody>
          <a:bodyPr wrap="square" lIns="0" tIns="0" rIns="0" bIns="0" rtlCol="0" anchor="ctr"/>
          <a:lstStyle/>
          <a:p>
            <a:pPr indent="0" marL="0">
              <a:buNone/>
            </a:pPr>
            <a:r>
              <a:rPr lang="en-US" sz="2800" b="1" dirty="0">
                <a:solidFill>
                  <a:srgbClr val="0E3A36"/>
                </a:solidFill>
                <a:latin typeface="Calibri" pitchFamily="34" charset="0"/>
                <a:ea typeface="Calibri" pitchFamily="34" charset="-122"/>
                <a:cs typeface="Calibri" pitchFamily="34" charset="-120"/>
              </a:rPr>
              <a:t>Metodología: Spec-Driven Development + IA</a:t>
            </a:r>
            <a:endParaRPr lang="en-US" sz="2800" dirty="0"/>
          </a:p>
        </p:txBody>
      </p:sp>
      <p:sp>
        <p:nvSpPr>
          <p:cNvPr id="4" name="Text 2"/>
          <p:cNvSpPr/>
          <p:nvPr/>
        </p:nvSpPr>
        <p:spPr>
          <a:xfrm>
            <a:off x="548640" y="6437376"/>
            <a:ext cx="5486400" cy="274320"/>
          </a:xfrm>
          <a:prstGeom prst="rect">
            <a:avLst/>
          </a:prstGeom>
          <a:noFill/>
          <a:ln/>
        </p:spPr>
        <p:txBody>
          <a:bodyPr wrap="square" rtlCol="0" anchor="ctr"/>
          <a:lstStyle/>
          <a:p>
            <a:pPr indent="0" marL="0">
              <a:buNone/>
            </a:pPr>
            <a:r>
              <a:rPr lang="en-US" sz="900" dirty="0">
                <a:solidFill>
                  <a:srgbClr val="5E6E6B"/>
                </a:solidFill>
                <a:latin typeface="Calibri" pitchFamily="34" charset="0"/>
                <a:ea typeface="Calibri" pitchFamily="34" charset="-122"/>
                <a:cs typeface="Calibri" pitchFamily="34" charset="-120"/>
              </a:rPr>
              <a:t>EcoAlerta · Trabajo Fin de Grado</a:t>
            </a:r>
            <a:endParaRPr lang="en-US" sz="900" dirty="0"/>
          </a:p>
        </p:txBody>
      </p:sp>
      <p:sp>
        <p:nvSpPr>
          <p:cNvPr id="5" name="Text 3"/>
          <p:cNvSpPr/>
          <p:nvPr/>
        </p:nvSpPr>
        <p:spPr>
          <a:xfrm>
            <a:off x="10725912" y="6437376"/>
            <a:ext cx="914400" cy="274320"/>
          </a:xfrm>
          <a:prstGeom prst="rect">
            <a:avLst/>
          </a:prstGeom>
          <a:noFill/>
          <a:ln/>
        </p:spPr>
        <p:txBody>
          <a:bodyPr wrap="square" rtlCol="0" anchor="ctr"/>
          <a:lstStyle/>
          <a:p>
            <a:pPr algn="r" indent="0" marL="0">
              <a:buNone/>
            </a:pPr>
            <a:r>
              <a:rPr lang="en-US" sz="900" dirty="0">
                <a:solidFill>
                  <a:srgbClr val="5E6E6B"/>
                </a:solidFill>
                <a:latin typeface="Calibri" pitchFamily="34" charset="0"/>
                <a:ea typeface="Calibri" pitchFamily="34" charset="-122"/>
                <a:cs typeface="Calibri" pitchFamily="34" charset="-120"/>
              </a:rPr>
              <a:t>8 / 13</a:t>
            </a:r>
            <a:endParaRPr lang="en-US" sz="900" dirty="0"/>
          </a:p>
        </p:txBody>
      </p:sp>
      <p:sp>
        <p:nvSpPr>
          <p:cNvPr id="6" name="Text 4"/>
          <p:cNvSpPr/>
          <p:nvPr/>
        </p:nvSpPr>
        <p:spPr>
          <a:xfrm>
            <a:off x="841248" y="1078992"/>
            <a:ext cx="10515600" cy="365760"/>
          </a:xfrm>
          <a:prstGeom prst="rect">
            <a:avLst/>
          </a:prstGeom>
          <a:noFill/>
          <a:ln/>
        </p:spPr>
        <p:txBody>
          <a:bodyPr wrap="square" rtlCol="0" anchor="ctr"/>
          <a:lstStyle/>
          <a:p>
            <a:pPr indent="0" marL="0">
              <a:buNone/>
            </a:pPr>
            <a:r>
              <a:rPr lang="en-US" sz="1600" dirty="0">
                <a:solidFill>
                  <a:srgbClr val="5E6E6B"/>
                </a:solidFill>
                <a:latin typeface="Calibri" pitchFamily="34" charset="0"/>
                <a:ea typeface="Calibri" pitchFamily="34" charset="-122"/>
                <a:cs typeface="Calibri" pitchFamily="34" charset="-120"/>
              </a:rPr>
              <a:t>Seis sprints de una semana, con enfoque iterativo e incremental</a:t>
            </a:r>
            <a:endParaRPr lang="en-US" sz="1600" dirty="0"/>
          </a:p>
        </p:txBody>
      </p:sp>
      <p:sp>
        <p:nvSpPr>
          <p:cNvPr id="7" name="Shape 5"/>
          <p:cNvSpPr/>
          <p:nvPr/>
        </p:nvSpPr>
        <p:spPr>
          <a:xfrm>
            <a:off x="548640" y="1920240"/>
            <a:ext cx="2615184" cy="2468880"/>
          </a:xfrm>
          <a:prstGeom prst="roundRect">
            <a:avLst>
              <a:gd name="adj" fmla="val 2963"/>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8" name="Shape 6"/>
          <p:cNvSpPr/>
          <p:nvPr/>
        </p:nvSpPr>
        <p:spPr>
          <a:xfrm>
            <a:off x="1463040" y="2212848"/>
            <a:ext cx="786384" cy="786384"/>
          </a:xfrm>
          <a:prstGeom prst="ellipse">
            <a:avLst/>
          </a:prstGeom>
          <a:solidFill>
            <a:srgbClr val="1FA463"/>
          </a:solidFill>
          <a:ln/>
        </p:spPr>
      </p:sp>
      <p:sp>
        <p:nvSpPr>
          <p:cNvPr id="9" name="Text 7"/>
          <p:cNvSpPr/>
          <p:nvPr/>
        </p:nvSpPr>
        <p:spPr>
          <a:xfrm>
            <a:off x="1463040" y="2212848"/>
            <a:ext cx="786384" cy="786384"/>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1</a:t>
            </a:r>
            <a:endParaRPr lang="en-US" sz="3400" dirty="0"/>
          </a:p>
        </p:txBody>
      </p:sp>
      <p:sp>
        <p:nvSpPr>
          <p:cNvPr id="10" name="Text 8"/>
          <p:cNvSpPr/>
          <p:nvPr/>
        </p:nvSpPr>
        <p:spPr>
          <a:xfrm>
            <a:off x="713232" y="3127248"/>
            <a:ext cx="2286000" cy="411480"/>
          </a:xfrm>
          <a:prstGeom prst="rect">
            <a:avLst/>
          </a:prstGeom>
          <a:noFill/>
          <a:ln/>
        </p:spPr>
        <p:txBody>
          <a:bodyPr wrap="square" rtlCol="0" anchor="ctr"/>
          <a:lstStyle/>
          <a:p>
            <a:pPr algn="ctr" indent="0" marL="0">
              <a:buNone/>
            </a:pPr>
            <a:r>
              <a:rPr lang="en-US" sz="1600" b="1" dirty="0">
                <a:solidFill>
                  <a:srgbClr val="0E3A36"/>
                </a:solidFill>
                <a:latin typeface="Calibri" pitchFamily="34" charset="0"/>
                <a:ea typeface="Calibri" pitchFamily="34" charset="-122"/>
                <a:cs typeface="Calibri" pitchFamily="34" charset="-120"/>
              </a:rPr>
              <a:t>Especifico</a:t>
            </a:r>
            <a:endParaRPr lang="en-US" sz="1600" dirty="0"/>
          </a:p>
        </p:txBody>
      </p:sp>
      <p:sp>
        <p:nvSpPr>
          <p:cNvPr id="11" name="Text 9"/>
          <p:cNvSpPr/>
          <p:nvPr/>
        </p:nvSpPr>
        <p:spPr>
          <a:xfrm>
            <a:off x="749808" y="3547872"/>
            <a:ext cx="2212848" cy="777240"/>
          </a:xfrm>
          <a:prstGeom prst="rect">
            <a:avLst/>
          </a:prstGeom>
          <a:noFill/>
          <a:ln/>
        </p:spPr>
        <p:txBody>
          <a:bodyPr wrap="square" rtlCol="0" anchor="ctr"/>
          <a:lstStyle/>
          <a:p>
            <a:pPr algn="ctr" indent="0" marL="0">
              <a:buNone/>
            </a:pPr>
            <a:r>
              <a:rPr lang="en-US" sz="1150" dirty="0">
                <a:solidFill>
                  <a:srgbClr val="16302E"/>
                </a:solidFill>
                <a:latin typeface="Calibri" pitchFamily="34" charset="0"/>
                <a:ea typeface="Calibri" pitchFamily="34" charset="-122"/>
                <a:cs typeface="Calibri" pitchFamily="34" charset="-120"/>
              </a:rPr>
              <a:t>Redacto la spec del sprint con criterios de aceptación (antes de pedir nada al agente).</a:t>
            </a:r>
            <a:endParaRPr lang="en-US" sz="1150" dirty="0"/>
          </a:p>
        </p:txBody>
      </p:sp>
      <p:sp>
        <p:nvSpPr>
          <p:cNvPr id="12" name="Text 10"/>
          <p:cNvSpPr/>
          <p:nvPr/>
        </p:nvSpPr>
        <p:spPr>
          <a:xfrm>
            <a:off x="3145536" y="2377440"/>
            <a:ext cx="210312" cy="786384"/>
          </a:xfrm>
          <a:prstGeom prst="rect">
            <a:avLst/>
          </a:prstGeom>
          <a:noFill/>
          <a:ln/>
        </p:spPr>
        <p:txBody>
          <a:bodyPr wrap="square" lIns="0" tIns="0" rIns="0" bIns="0" rtlCol="0" anchor="ctr"/>
          <a:lstStyle/>
          <a:p>
            <a:pPr algn="ctr" indent="0" marL="0">
              <a:buNone/>
            </a:pPr>
            <a:r>
              <a:rPr lang="en-US" sz="3000" b="1" dirty="0">
                <a:solidFill>
                  <a:srgbClr val="1FA463"/>
                </a:solidFill>
              </a:rPr>
              <a:t>›</a:t>
            </a:r>
            <a:endParaRPr lang="en-US" sz="3000" dirty="0"/>
          </a:p>
        </p:txBody>
      </p:sp>
      <p:sp>
        <p:nvSpPr>
          <p:cNvPr id="13" name="Shape 11"/>
          <p:cNvSpPr/>
          <p:nvPr/>
        </p:nvSpPr>
        <p:spPr>
          <a:xfrm>
            <a:off x="3374136" y="1920240"/>
            <a:ext cx="2615184" cy="2468880"/>
          </a:xfrm>
          <a:prstGeom prst="roundRect">
            <a:avLst>
              <a:gd name="adj" fmla="val 2963"/>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4" name="Shape 12"/>
          <p:cNvSpPr/>
          <p:nvPr/>
        </p:nvSpPr>
        <p:spPr>
          <a:xfrm>
            <a:off x="4288536" y="2212848"/>
            <a:ext cx="786384" cy="786384"/>
          </a:xfrm>
          <a:prstGeom prst="ellipse">
            <a:avLst/>
          </a:prstGeom>
          <a:solidFill>
            <a:srgbClr val="1FA463"/>
          </a:solidFill>
          <a:ln/>
        </p:spPr>
      </p:sp>
      <p:sp>
        <p:nvSpPr>
          <p:cNvPr id="15" name="Text 13"/>
          <p:cNvSpPr/>
          <p:nvPr/>
        </p:nvSpPr>
        <p:spPr>
          <a:xfrm>
            <a:off x="4288536" y="2212848"/>
            <a:ext cx="786384" cy="786384"/>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2</a:t>
            </a:r>
            <a:endParaRPr lang="en-US" sz="3400" dirty="0"/>
          </a:p>
        </p:txBody>
      </p:sp>
      <p:sp>
        <p:nvSpPr>
          <p:cNvPr id="16" name="Text 14"/>
          <p:cNvSpPr/>
          <p:nvPr/>
        </p:nvSpPr>
        <p:spPr>
          <a:xfrm>
            <a:off x="3538728" y="3127248"/>
            <a:ext cx="2286000" cy="411480"/>
          </a:xfrm>
          <a:prstGeom prst="rect">
            <a:avLst/>
          </a:prstGeom>
          <a:noFill/>
          <a:ln/>
        </p:spPr>
        <p:txBody>
          <a:bodyPr wrap="square" rtlCol="0" anchor="ctr"/>
          <a:lstStyle/>
          <a:p>
            <a:pPr algn="ctr" indent="0" marL="0">
              <a:buNone/>
            </a:pPr>
            <a:r>
              <a:rPr lang="en-US" sz="1600" b="1" dirty="0">
                <a:solidFill>
                  <a:srgbClr val="0E3A36"/>
                </a:solidFill>
                <a:latin typeface="Calibri" pitchFamily="34" charset="0"/>
                <a:ea typeface="Calibri" pitchFamily="34" charset="-122"/>
                <a:cs typeface="Calibri" pitchFamily="34" charset="-120"/>
              </a:rPr>
              <a:t>El agente genera</a:t>
            </a:r>
            <a:endParaRPr lang="en-US" sz="1600" dirty="0"/>
          </a:p>
        </p:txBody>
      </p:sp>
      <p:sp>
        <p:nvSpPr>
          <p:cNvPr id="17" name="Text 15"/>
          <p:cNvSpPr/>
          <p:nvPr/>
        </p:nvSpPr>
        <p:spPr>
          <a:xfrm>
            <a:off x="3575304" y="3547872"/>
            <a:ext cx="2212848" cy="777240"/>
          </a:xfrm>
          <a:prstGeom prst="rect">
            <a:avLst/>
          </a:prstGeom>
          <a:noFill/>
          <a:ln/>
        </p:spPr>
        <p:txBody>
          <a:bodyPr wrap="square" rtlCol="0" anchor="ctr"/>
          <a:lstStyle/>
          <a:p>
            <a:pPr algn="ctr" indent="0" marL="0">
              <a:buNone/>
            </a:pPr>
            <a:r>
              <a:rPr lang="en-US" sz="1150" dirty="0">
                <a:solidFill>
                  <a:srgbClr val="16302E"/>
                </a:solidFill>
                <a:latin typeface="Calibri" pitchFamily="34" charset="0"/>
                <a:ea typeface="Calibri" pitchFamily="34" charset="-122"/>
                <a:cs typeface="Calibri" pitchFamily="34" charset="-120"/>
              </a:rPr>
              <a:t>Gemini en Antigravity genera código a partir de mi especificación.</a:t>
            </a:r>
            <a:endParaRPr lang="en-US" sz="1150" dirty="0"/>
          </a:p>
        </p:txBody>
      </p:sp>
      <p:sp>
        <p:nvSpPr>
          <p:cNvPr id="18" name="Text 16"/>
          <p:cNvSpPr/>
          <p:nvPr/>
        </p:nvSpPr>
        <p:spPr>
          <a:xfrm>
            <a:off x="5971032" y="2377440"/>
            <a:ext cx="210312" cy="786384"/>
          </a:xfrm>
          <a:prstGeom prst="rect">
            <a:avLst/>
          </a:prstGeom>
          <a:noFill/>
          <a:ln/>
        </p:spPr>
        <p:txBody>
          <a:bodyPr wrap="square" lIns="0" tIns="0" rIns="0" bIns="0" rtlCol="0" anchor="ctr"/>
          <a:lstStyle/>
          <a:p>
            <a:pPr algn="ctr" indent="0" marL="0">
              <a:buNone/>
            </a:pPr>
            <a:r>
              <a:rPr lang="en-US" sz="3000" b="1" dirty="0">
                <a:solidFill>
                  <a:srgbClr val="1FA463"/>
                </a:solidFill>
              </a:rPr>
              <a:t>›</a:t>
            </a:r>
            <a:endParaRPr lang="en-US" sz="3000" dirty="0"/>
          </a:p>
        </p:txBody>
      </p:sp>
      <p:sp>
        <p:nvSpPr>
          <p:cNvPr id="19" name="Shape 17"/>
          <p:cNvSpPr/>
          <p:nvPr/>
        </p:nvSpPr>
        <p:spPr>
          <a:xfrm>
            <a:off x="6199632" y="1920240"/>
            <a:ext cx="2615184" cy="2468880"/>
          </a:xfrm>
          <a:prstGeom prst="roundRect">
            <a:avLst>
              <a:gd name="adj" fmla="val 2963"/>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20" name="Shape 18"/>
          <p:cNvSpPr/>
          <p:nvPr/>
        </p:nvSpPr>
        <p:spPr>
          <a:xfrm>
            <a:off x="7114032" y="2212848"/>
            <a:ext cx="786384" cy="786384"/>
          </a:xfrm>
          <a:prstGeom prst="ellipse">
            <a:avLst/>
          </a:prstGeom>
          <a:solidFill>
            <a:srgbClr val="1FA463"/>
          </a:solidFill>
          <a:ln/>
        </p:spPr>
      </p:sp>
      <p:sp>
        <p:nvSpPr>
          <p:cNvPr id="21" name="Text 19"/>
          <p:cNvSpPr/>
          <p:nvPr/>
        </p:nvSpPr>
        <p:spPr>
          <a:xfrm>
            <a:off x="7114032" y="2212848"/>
            <a:ext cx="786384" cy="786384"/>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3</a:t>
            </a:r>
            <a:endParaRPr lang="en-US" sz="3400" dirty="0"/>
          </a:p>
        </p:txBody>
      </p:sp>
      <p:sp>
        <p:nvSpPr>
          <p:cNvPr id="22" name="Text 20"/>
          <p:cNvSpPr/>
          <p:nvPr/>
        </p:nvSpPr>
        <p:spPr>
          <a:xfrm>
            <a:off x="6364224" y="3127248"/>
            <a:ext cx="2286000" cy="411480"/>
          </a:xfrm>
          <a:prstGeom prst="rect">
            <a:avLst/>
          </a:prstGeom>
          <a:noFill/>
          <a:ln/>
        </p:spPr>
        <p:txBody>
          <a:bodyPr wrap="square" rtlCol="0" anchor="ctr"/>
          <a:lstStyle/>
          <a:p>
            <a:pPr algn="ctr" indent="0" marL="0">
              <a:buNone/>
            </a:pPr>
            <a:r>
              <a:rPr lang="en-US" sz="1600" b="1" dirty="0">
                <a:solidFill>
                  <a:srgbClr val="0E3A36"/>
                </a:solidFill>
                <a:latin typeface="Calibri" pitchFamily="34" charset="0"/>
                <a:ea typeface="Calibri" pitchFamily="34" charset="-122"/>
                <a:cs typeface="Calibri" pitchFamily="34" charset="-120"/>
              </a:rPr>
              <a:t>Reviso y pruebo</a:t>
            </a:r>
            <a:endParaRPr lang="en-US" sz="1600" dirty="0"/>
          </a:p>
        </p:txBody>
      </p:sp>
      <p:sp>
        <p:nvSpPr>
          <p:cNvPr id="23" name="Text 21"/>
          <p:cNvSpPr/>
          <p:nvPr/>
        </p:nvSpPr>
        <p:spPr>
          <a:xfrm>
            <a:off x="6400800" y="3547872"/>
            <a:ext cx="2212848" cy="777240"/>
          </a:xfrm>
          <a:prstGeom prst="rect">
            <a:avLst/>
          </a:prstGeom>
          <a:noFill/>
          <a:ln/>
        </p:spPr>
        <p:txBody>
          <a:bodyPr wrap="square" rtlCol="0" anchor="ctr"/>
          <a:lstStyle/>
          <a:p>
            <a:pPr algn="ctr" indent="0" marL="0">
              <a:buNone/>
            </a:pPr>
            <a:r>
              <a:rPr lang="en-US" sz="1150" dirty="0">
                <a:solidFill>
                  <a:srgbClr val="16302E"/>
                </a:solidFill>
                <a:latin typeface="Calibri" pitchFamily="34" charset="0"/>
                <a:ea typeface="Calibri" pitchFamily="34" charset="-122"/>
                <a:cs typeface="Calibri" pitchFamily="34" charset="-120"/>
              </a:rPr>
              <a:t>Reviso, ejecuto pruebas locales y depuro lo que el agente hace mal.</a:t>
            </a:r>
            <a:endParaRPr lang="en-US" sz="1150" dirty="0"/>
          </a:p>
        </p:txBody>
      </p:sp>
      <p:sp>
        <p:nvSpPr>
          <p:cNvPr id="24" name="Text 22"/>
          <p:cNvSpPr/>
          <p:nvPr/>
        </p:nvSpPr>
        <p:spPr>
          <a:xfrm>
            <a:off x="8796528" y="2377440"/>
            <a:ext cx="210312" cy="786384"/>
          </a:xfrm>
          <a:prstGeom prst="rect">
            <a:avLst/>
          </a:prstGeom>
          <a:noFill/>
          <a:ln/>
        </p:spPr>
        <p:txBody>
          <a:bodyPr wrap="square" lIns="0" tIns="0" rIns="0" bIns="0" rtlCol="0" anchor="ctr"/>
          <a:lstStyle/>
          <a:p>
            <a:pPr algn="ctr" indent="0" marL="0">
              <a:buNone/>
            </a:pPr>
            <a:r>
              <a:rPr lang="en-US" sz="3000" b="1" dirty="0">
                <a:solidFill>
                  <a:srgbClr val="1FA463"/>
                </a:solidFill>
              </a:rPr>
              <a:t>›</a:t>
            </a:r>
            <a:endParaRPr lang="en-US" sz="3000" dirty="0"/>
          </a:p>
        </p:txBody>
      </p:sp>
      <p:sp>
        <p:nvSpPr>
          <p:cNvPr id="25" name="Shape 23"/>
          <p:cNvSpPr/>
          <p:nvPr/>
        </p:nvSpPr>
        <p:spPr>
          <a:xfrm>
            <a:off x="9025128" y="1920240"/>
            <a:ext cx="2615184" cy="2468880"/>
          </a:xfrm>
          <a:prstGeom prst="roundRect">
            <a:avLst>
              <a:gd name="adj" fmla="val 2963"/>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26" name="Shape 24"/>
          <p:cNvSpPr/>
          <p:nvPr/>
        </p:nvSpPr>
        <p:spPr>
          <a:xfrm>
            <a:off x="9939528" y="2212848"/>
            <a:ext cx="786384" cy="786384"/>
          </a:xfrm>
          <a:prstGeom prst="ellipse">
            <a:avLst/>
          </a:prstGeom>
          <a:solidFill>
            <a:srgbClr val="1FA463"/>
          </a:solidFill>
          <a:ln/>
        </p:spPr>
      </p:sp>
      <p:sp>
        <p:nvSpPr>
          <p:cNvPr id="27" name="Text 25"/>
          <p:cNvSpPr/>
          <p:nvPr/>
        </p:nvSpPr>
        <p:spPr>
          <a:xfrm>
            <a:off x="9939528" y="2212848"/>
            <a:ext cx="786384" cy="786384"/>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4</a:t>
            </a:r>
            <a:endParaRPr lang="en-US" sz="3400" dirty="0"/>
          </a:p>
        </p:txBody>
      </p:sp>
      <p:sp>
        <p:nvSpPr>
          <p:cNvPr id="28" name="Text 26"/>
          <p:cNvSpPr/>
          <p:nvPr/>
        </p:nvSpPr>
        <p:spPr>
          <a:xfrm>
            <a:off x="9189720" y="3127248"/>
            <a:ext cx="2286000" cy="411480"/>
          </a:xfrm>
          <a:prstGeom prst="rect">
            <a:avLst/>
          </a:prstGeom>
          <a:noFill/>
          <a:ln/>
        </p:spPr>
        <p:txBody>
          <a:bodyPr wrap="square" rtlCol="0" anchor="ctr"/>
          <a:lstStyle/>
          <a:p>
            <a:pPr algn="ctr" indent="0" marL="0">
              <a:buNone/>
            </a:pPr>
            <a:r>
              <a:rPr lang="en-US" sz="1600" b="1" dirty="0">
                <a:solidFill>
                  <a:srgbClr val="0E3A36"/>
                </a:solidFill>
                <a:latin typeface="Calibri" pitchFamily="34" charset="0"/>
                <a:ea typeface="Calibri" pitchFamily="34" charset="-122"/>
                <a:cs typeface="Calibri" pitchFamily="34" charset="-120"/>
              </a:rPr>
              <a:t>Commit</a:t>
            </a:r>
            <a:endParaRPr lang="en-US" sz="1600" dirty="0"/>
          </a:p>
        </p:txBody>
      </p:sp>
      <p:sp>
        <p:nvSpPr>
          <p:cNvPr id="29" name="Text 27"/>
          <p:cNvSpPr/>
          <p:nvPr/>
        </p:nvSpPr>
        <p:spPr>
          <a:xfrm>
            <a:off x="9226296" y="3547872"/>
            <a:ext cx="2212848" cy="777240"/>
          </a:xfrm>
          <a:prstGeom prst="rect">
            <a:avLst/>
          </a:prstGeom>
          <a:noFill/>
          <a:ln/>
        </p:spPr>
        <p:txBody>
          <a:bodyPr wrap="square" rtlCol="0" anchor="ctr"/>
          <a:lstStyle/>
          <a:p>
            <a:pPr algn="ctr" indent="0" marL="0">
              <a:buNone/>
            </a:pPr>
            <a:r>
              <a:rPr lang="en-US" sz="1150" dirty="0">
                <a:solidFill>
                  <a:srgbClr val="16302E"/>
                </a:solidFill>
                <a:latin typeface="Calibri" pitchFamily="34" charset="0"/>
                <a:ea typeface="Calibri" pitchFamily="34" charset="-122"/>
                <a:cs typeface="Calibri" pitchFamily="34" charset="-120"/>
              </a:rPr>
              <a:t>Conventional Commits y CHANGELOG; todo queda auditable en Git.</a:t>
            </a:r>
            <a:endParaRPr lang="en-US" sz="1150" dirty="0"/>
          </a:p>
        </p:txBody>
      </p:sp>
      <p:sp>
        <p:nvSpPr>
          <p:cNvPr id="30" name="Shape 28"/>
          <p:cNvSpPr/>
          <p:nvPr/>
        </p:nvSpPr>
        <p:spPr>
          <a:xfrm>
            <a:off x="548640" y="4754880"/>
            <a:ext cx="3630168" cy="777240"/>
          </a:xfrm>
          <a:prstGeom prst="roundRect">
            <a:avLst>
              <a:gd name="adj" fmla="val 9412"/>
            </a:avLst>
          </a:prstGeom>
          <a:solidFill>
            <a:srgbClr val="0E3A36"/>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31" name="Text 29"/>
          <p:cNvSpPr/>
          <p:nvPr/>
        </p:nvSpPr>
        <p:spPr>
          <a:xfrm>
            <a:off x="685800" y="4754880"/>
            <a:ext cx="3355848" cy="7772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 sprints de 1 semana</a:t>
            </a:r>
            <a:endParaRPr lang="en-US" sz="1400" dirty="0"/>
          </a:p>
        </p:txBody>
      </p:sp>
      <p:sp>
        <p:nvSpPr>
          <p:cNvPr id="32" name="Shape 30"/>
          <p:cNvSpPr/>
          <p:nvPr/>
        </p:nvSpPr>
        <p:spPr>
          <a:xfrm>
            <a:off x="4279392" y="4754880"/>
            <a:ext cx="3630168" cy="777240"/>
          </a:xfrm>
          <a:prstGeom prst="roundRect">
            <a:avLst>
              <a:gd name="adj" fmla="val 9412"/>
            </a:avLst>
          </a:prstGeom>
          <a:solidFill>
            <a:srgbClr val="0E3A36"/>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33" name="Text 31"/>
          <p:cNvSpPr/>
          <p:nvPr/>
        </p:nvSpPr>
        <p:spPr>
          <a:xfrm>
            <a:off x="4416552" y="4754880"/>
            <a:ext cx="3355848" cy="7772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Google Antigravity + SpecKit</a:t>
            </a:r>
            <a:endParaRPr lang="en-US" sz="1400" dirty="0"/>
          </a:p>
        </p:txBody>
      </p:sp>
      <p:sp>
        <p:nvSpPr>
          <p:cNvPr id="34" name="Shape 32"/>
          <p:cNvSpPr/>
          <p:nvPr/>
        </p:nvSpPr>
        <p:spPr>
          <a:xfrm>
            <a:off x="8010144" y="4754880"/>
            <a:ext cx="3630168" cy="777240"/>
          </a:xfrm>
          <a:prstGeom prst="roundRect">
            <a:avLst>
              <a:gd name="adj" fmla="val 9412"/>
            </a:avLst>
          </a:prstGeom>
          <a:solidFill>
            <a:srgbClr val="0E3A36"/>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35" name="Text 33"/>
          <p:cNvSpPr/>
          <p:nvPr/>
        </p:nvSpPr>
        <p:spPr>
          <a:xfrm>
            <a:off x="8147304" y="4754880"/>
            <a:ext cx="3355848" cy="7772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Uso de IA declarado y auditable</a:t>
            </a:r>
            <a:endParaRPr lang="en-US" sz="1400" dirty="0"/>
          </a:p>
        </p:txBody>
      </p:sp>
      <p:sp>
        <p:nvSpPr>
          <p:cNvPr id="36" name="Shape 34"/>
          <p:cNvSpPr/>
          <p:nvPr/>
        </p:nvSpPr>
        <p:spPr>
          <a:xfrm>
            <a:off x="548640" y="5715000"/>
            <a:ext cx="11091672" cy="566928"/>
          </a:xfrm>
          <a:prstGeom prst="roundRect">
            <a:avLst>
              <a:gd name="adj" fmla="val 12903"/>
            </a:avLst>
          </a:prstGeom>
          <a:solidFill>
            <a:srgbClr val="E3F3EA"/>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37" name="Text 35"/>
          <p:cNvSpPr/>
          <p:nvPr/>
        </p:nvSpPr>
        <p:spPr>
          <a:xfrm>
            <a:off x="731520" y="5715000"/>
            <a:ext cx="10698480" cy="566928"/>
          </a:xfrm>
          <a:prstGeom prst="rect">
            <a:avLst/>
          </a:prstGeom>
          <a:noFill/>
          <a:ln/>
        </p:spPr>
        <p:txBody>
          <a:bodyPr wrap="square" rtlCol="0" anchor="ctr"/>
          <a:lstStyle/>
          <a:p>
            <a:pPr algn="ctr" indent="0" marL="0">
              <a:buNone/>
            </a:pPr>
            <a:r>
              <a:rPr lang="en-US" sz="1350" i="1" dirty="0">
                <a:solidFill>
                  <a:srgbClr val="12693E"/>
                </a:solidFill>
                <a:latin typeface="Calibri" pitchFamily="34" charset="0"/>
                <a:ea typeface="Calibri" pitchFamily="34" charset="-122"/>
                <a:cs typeface="Calibri" pitchFamily="34" charset="-120"/>
              </a:rPr>
              <a:t>“La diferencia no la marca delegar, sino dirigir bien: especificar con precisión, revisar con rigor y firmar el resultado.”</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8F6"/>
        </a:solidFill>
      </p:bgPr>
    </p:bg>
    <p:spTree>
      <p:nvGrpSpPr>
        <p:cNvPr id="1" name=""/>
        <p:cNvGrpSpPr/>
        <p:nvPr/>
      </p:nvGrpSpPr>
      <p:grpSpPr>
        <a:xfrm>
          <a:off x="0" y="0"/>
          <a:ext cx="0" cy="0"/>
          <a:chOff x="0" y="0"/>
          <a:chExt cx="0" cy="0"/>
        </a:xfrm>
      </p:grpSpPr>
      <p:sp>
        <p:nvSpPr>
          <p:cNvPr id="2" name="Shape 0"/>
          <p:cNvSpPr/>
          <p:nvPr/>
        </p:nvSpPr>
        <p:spPr>
          <a:xfrm>
            <a:off x="548640" y="475488"/>
            <a:ext cx="146304" cy="475488"/>
          </a:xfrm>
          <a:prstGeom prst="roundRect">
            <a:avLst>
              <a:gd name="adj" fmla="val 31250"/>
            </a:avLst>
          </a:prstGeom>
          <a:solidFill>
            <a:srgbClr val="1FA463"/>
          </a:solidFill>
          <a:ln/>
        </p:spPr>
      </p:sp>
      <p:sp>
        <p:nvSpPr>
          <p:cNvPr id="3" name="Text 1"/>
          <p:cNvSpPr/>
          <p:nvPr/>
        </p:nvSpPr>
        <p:spPr>
          <a:xfrm>
            <a:off x="841248" y="411480"/>
            <a:ext cx="10789920" cy="640080"/>
          </a:xfrm>
          <a:prstGeom prst="rect">
            <a:avLst/>
          </a:prstGeom>
          <a:noFill/>
          <a:ln/>
        </p:spPr>
        <p:txBody>
          <a:bodyPr wrap="square" lIns="0" tIns="0" rIns="0" bIns="0" rtlCol="0" anchor="ctr"/>
          <a:lstStyle/>
          <a:p>
            <a:pPr indent="0" marL="0">
              <a:buNone/>
            </a:pPr>
            <a:r>
              <a:rPr lang="en-US" sz="2800" b="1" dirty="0">
                <a:solidFill>
                  <a:srgbClr val="0E3A36"/>
                </a:solidFill>
                <a:latin typeface="Calibri" pitchFamily="34" charset="0"/>
                <a:ea typeface="Calibri" pitchFamily="34" charset="-122"/>
                <a:cs typeface="Calibri" pitchFamily="34" charset="-120"/>
              </a:rPr>
              <a:t>EcoAlerta en funcionamiento</a:t>
            </a:r>
            <a:endParaRPr lang="en-US" sz="2800" dirty="0"/>
          </a:p>
        </p:txBody>
      </p:sp>
      <p:sp>
        <p:nvSpPr>
          <p:cNvPr id="4" name="Text 2"/>
          <p:cNvSpPr/>
          <p:nvPr/>
        </p:nvSpPr>
        <p:spPr>
          <a:xfrm>
            <a:off x="548640" y="6437376"/>
            <a:ext cx="5486400" cy="274320"/>
          </a:xfrm>
          <a:prstGeom prst="rect">
            <a:avLst/>
          </a:prstGeom>
          <a:noFill/>
          <a:ln/>
        </p:spPr>
        <p:txBody>
          <a:bodyPr wrap="square" rtlCol="0" anchor="ctr"/>
          <a:lstStyle/>
          <a:p>
            <a:pPr indent="0" marL="0">
              <a:buNone/>
            </a:pPr>
            <a:r>
              <a:rPr lang="en-US" sz="900" dirty="0">
                <a:solidFill>
                  <a:srgbClr val="5E6E6B"/>
                </a:solidFill>
                <a:latin typeface="Calibri" pitchFamily="34" charset="0"/>
                <a:ea typeface="Calibri" pitchFamily="34" charset="-122"/>
                <a:cs typeface="Calibri" pitchFamily="34" charset="-120"/>
              </a:rPr>
              <a:t>EcoAlerta · Trabajo Fin de Grado</a:t>
            </a:r>
            <a:endParaRPr lang="en-US" sz="900" dirty="0"/>
          </a:p>
        </p:txBody>
      </p:sp>
      <p:sp>
        <p:nvSpPr>
          <p:cNvPr id="5" name="Text 3"/>
          <p:cNvSpPr/>
          <p:nvPr/>
        </p:nvSpPr>
        <p:spPr>
          <a:xfrm>
            <a:off x="10725912" y="6437376"/>
            <a:ext cx="914400" cy="274320"/>
          </a:xfrm>
          <a:prstGeom prst="rect">
            <a:avLst/>
          </a:prstGeom>
          <a:noFill/>
          <a:ln/>
        </p:spPr>
        <p:txBody>
          <a:bodyPr wrap="square" rtlCol="0" anchor="ctr"/>
          <a:lstStyle/>
          <a:p>
            <a:pPr algn="r" indent="0" marL="0">
              <a:buNone/>
            </a:pPr>
            <a:r>
              <a:rPr lang="en-US" sz="900" dirty="0">
                <a:solidFill>
                  <a:srgbClr val="5E6E6B"/>
                </a:solidFill>
                <a:latin typeface="Calibri" pitchFamily="34" charset="0"/>
                <a:ea typeface="Calibri" pitchFamily="34" charset="-122"/>
                <a:cs typeface="Calibri" pitchFamily="34" charset="-120"/>
              </a:rPr>
              <a:t>9 / 13</a:t>
            </a:r>
            <a:endParaRPr lang="en-US" sz="900" dirty="0"/>
          </a:p>
        </p:txBody>
      </p:sp>
      <p:sp>
        <p:nvSpPr>
          <p:cNvPr id="6" name="Shape 4"/>
          <p:cNvSpPr/>
          <p:nvPr/>
        </p:nvSpPr>
        <p:spPr>
          <a:xfrm>
            <a:off x="548640" y="1371600"/>
            <a:ext cx="5458968" cy="2331720"/>
          </a:xfrm>
          <a:prstGeom prst="roundRect">
            <a:avLst>
              <a:gd name="adj" fmla="val 3137"/>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pic>
        <p:nvPicPr>
          <p:cNvPr id="7" name="Image 0" descr="/tmp/deck/assets/ui-mapa-principal.png">    </p:cNvPr>
          <p:cNvPicPr>
            <a:picLocks noChangeAspect="1"/>
          </p:cNvPicPr>
          <p:nvPr/>
        </p:nvPicPr>
        <p:blipFill>
          <a:blip r:embed="rId1"/>
          <a:stretch>
            <a:fillRect/>
          </a:stretch>
        </p:blipFill>
        <p:spPr>
          <a:xfrm>
            <a:off x="1426077" y="1481328"/>
            <a:ext cx="3704095" cy="1828800"/>
          </a:xfrm>
          <a:prstGeom prst="rect">
            <a:avLst/>
          </a:prstGeom>
        </p:spPr>
      </p:pic>
      <p:sp>
        <p:nvSpPr>
          <p:cNvPr id="8" name="Text 5"/>
          <p:cNvSpPr/>
          <p:nvPr/>
        </p:nvSpPr>
        <p:spPr>
          <a:xfrm>
            <a:off x="658368" y="3319272"/>
            <a:ext cx="5239512" cy="329184"/>
          </a:xfrm>
          <a:prstGeom prst="rect">
            <a:avLst/>
          </a:prstGeom>
          <a:noFill/>
          <a:ln/>
        </p:spPr>
        <p:txBody>
          <a:bodyPr wrap="square" rtlCol="0" anchor="ctr"/>
          <a:lstStyle/>
          <a:p>
            <a:pPr algn="ctr" indent="0" marL="0">
              <a:buNone/>
            </a:pPr>
            <a:r>
              <a:rPr lang="en-US" sz="1200" b="1" dirty="0">
                <a:solidFill>
                  <a:srgbClr val="0E3A36"/>
                </a:solidFill>
                <a:latin typeface="Calibri" pitchFamily="34" charset="0"/>
                <a:ea typeface="Calibri" pitchFamily="34" charset="-122"/>
                <a:cs typeface="Calibri" pitchFamily="34" charset="-120"/>
              </a:rPr>
              <a:t>Mapa público con marcadores por severidad</a:t>
            </a:r>
            <a:endParaRPr lang="en-US" sz="1200" dirty="0"/>
          </a:p>
        </p:txBody>
      </p:sp>
      <p:sp>
        <p:nvSpPr>
          <p:cNvPr id="9" name="Shape 6"/>
          <p:cNvSpPr/>
          <p:nvPr/>
        </p:nvSpPr>
        <p:spPr>
          <a:xfrm>
            <a:off x="6537960" y="1371600"/>
            <a:ext cx="5458968" cy="2331720"/>
          </a:xfrm>
          <a:prstGeom prst="roundRect">
            <a:avLst>
              <a:gd name="adj" fmla="val 3137"/>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pic>
        <p:nvPicPr>
          <p:cNvPr id="10" name="Image 1" descr="/tmp/deck/assets/ui-crear-incidencia.png">    </p:cNvPr>
          <p:cNvPicPr>
            <a:picLocks noChangeAspect="1"/>
          </p:cNvPicPr>
          <p:nvPr/>
        </p:nvPicPr>
        <p:blipFill>
          <a:blip r:embed="rId2"/>
          <a:stretch>
            <a:fillRect/>
          </a:stretch>
        </p:blipFill>
        <p:spPr>
          <a:xfrm>
            <a:off x="7412435" y="1481328"/>
            <a:ext cx="3710018" cy="1828800"/>
          </a:xfrm>
          <a:prstGeom prst="rect">
            <a:avLst/>
          </a:prstGeom>
        </p:spPr>
      </p:pic>
      <p:sp>
        <p:nvSpPr>
          <p:cNvPr id="11" name="Text 7"/>
          <p:cNvSpPr/>
          <p:nvPr/>
        </p:nvSpPr>
        <p:spPr>
          <a:xfrm>
            <a:off x="6647688" y="3319272"/>
            <a:ext cx="5239512" cy="329184"/>
          </a:xfrm>
          <a:prstGeom prst="rect">
            <a:avLst/>
          </a:prstGeom>
          <a:noFill/>
          <a:ln/>
        </p:spPr>
        <p:txBody>
          <a:bodyPr wrap="square" rtlCol="0" anchor="ctr"/>
          <a:lstStyle/>
          <a:p>
            <a:pPr algn="ctr" indent="0" marL="0">
              <a:buNone/>
            </a:pPr>
            <a:r>
              <a:rPr lang="en-US" sz="1200" b="1" dirty="0">
                <a:solidFill>
                  <a:srgbClr val="0E3A36"/>
                </a:solidFill>
                <a:latin typeface="Calibri" pitchFamily="34" charset="0"/>
                <a:ea typeface="Calibri" pitchFamily="34" charset="-122"/>
                <a:cs typeface="Calibri" pitchFamily="34" charset="-120"/>
              </a:rPr>
              <a:t>Reporte: categoría, severidad, foto y GPS</a:t>
            </a:r>
            <a:endParaRPr lang="en-US" sz="1200" dirty="0"/>
          </a:p>
        </p:txBody>
      </p:sp>
      <p:sp>
        <p:nvSpPr>
          <p:cNvPr id="12" name="Shape 8"/>
          <p:cNvSpPr/>
          <p:nvPr/>
        </p:nvSpPr>
        <p:spPr>
          <a:xfrm>
            <a:off x="548640" y="3995928"/>
            <a:ext cx="5458968" cy="2331720"/>
          </a:xfrm>
          <a:prstGeom prst="roundRect">
            <a:avLst>
              <a:gd name="adj" fmla="val 3137"/>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pic>
        <p:nvPicPr>
          <p:cNvPr id="13" name="Image 2" descr="/tmp/deck/assets/ui-detalle.png">    </p:cNvPr>
          <p:cNvPicPr>
            <a:picLocks noChangeAspect="1"/>
          </p:cNvPicPr>
          <p:nvPr/>
        </p:nvPicPr>
        <p:blipFill>
          <a:blip r:embed="rId3"/>
          <a:stretch>
            <a:fillRect/>
          </a:stretch>
        </p:blipFill>
        <p:spPr>
          <a:xfrm>
            <a:off x="1422144" y="4105656"/>
            <a:ext cx="3711959" cy="1828800"/>
          </a:xfrm>
          <a:prstGeom prst="rect">
            <a:avLst/>
          </a:prstGeom>
        </p:spPr>
      </p:pic>
      <p:sp>
        <p:nvSpPr>
          <p:cNvPr id="14" name="Text 9"/>
          <p:cNvSpPr/>
          <p:nvPr/>
        </p:nvSpPr>
        <p:spPr>
          <a:xfrm>
            <a:off x="658368" y="5943600"/>
            <a:ext cx="5239512" cy="329184"/>
          </a:xfrm>
          <a:prstGeom prst="rect">
            <a:avLst/>
          </a:prstGeom>
          <a:noFill/>
          <a:ln/>
        </p:spPr>
        <p:txBody>
          <a:bodyPr wrap="square" rtlCol="0" anchor="ctr"/>
          <a:lstStyle/>
          <a:p>
            <a:pPr algn="ctr" indent="0" marL="0">
              <a:buNone/>
            </a:pPr>
            <a:r>
              <a:rPr lang="en-US" sz="1200" b="1" dirty="0">
                <a:solidFill>
                  <a:srgbClr val="0E3A36"/>
                </a:solidFill>
                <a:latin typeface="Calibri" pitchFamily="34" charset="0"/>
                <a:ea typeface="Calibri" pitchFamily="34" charset="-122"/>
                <a:cs typeface="Calibri" pitchFamily="34" charset="-120"/>
              </a:rPr>
              <a:t>Detalle: fotos, votos, comentarios e historial</a:t>
            </a:r>
            <a:endParaRPr lang="en-US" sz="1200" dirty="0"/>
          </a:p>
        </p:txBody>
      </p:sp>
      <p:sp>
        <p:nvSpPr>
          <p:cNvPr id="15" name="Shape 10"/>
          <p:cNvSpPr/>
          <p:nvPr/>
        </p:nvSpPr>
        <p:spPr>
          <a:xfrm>
            <a:off x="6537960" y="3995928"/>
            <a:ext cx="5458968" cy="2331720"/>
          </a:xfrm>
          <a:prstGeom prst="roundRect">
            <a:avLst>
              <a:gd name="adj" fmla="val 3137"/>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pic>
        <p:nvPicPr>
          <p:cNvPr id="16" name="Image 3" descr="/tmp/deck/assets/manual-admin-dashboard.png">    </p:cNvPr>
          <p:cNvPicPr>
            <a:picLocks noChangeAspect="1"/>
          </p:cNvPicPr>
          <p:nvPr/>
        </p:nvPicPr>
        <p:blipFill>
          <a:blip r:embed="rId4"/>
          <a:stretch>
            <a:fillRect/>
          </a:stretch>
        </p:blipFill>
        <p:spPr>
          <a:xfrm>
            <a:off x="7786987" y="4105656"/>
            <a:ext cx="2960914" cy="1828800"/>
          </a:xfrm>
          <a:prstGeom prst="rect">
            <a:avLst/>
          </a:prstGeom>
        </p:spPr>
      </p:pic>
      <p:sp>
        <p:nvSpPr>
          <p:cNvPr id="17" name="Text 11"/>
          <p:cNvSpPr/>
          <p:nvPr/>
        </p:nvSpPr>
        <p:spPr>
          <a:xfrm>
            <a:off x="6647688" y="5943600"/>
            <a:ext cx="5239512" cy="329184"/>
          </a:xfrm>
          <a:prstGeom prst="rect">
            <a:avLst/>
          </a:prstGeom>
          <a:noFill/>
          <a:ln/>
        </p:spPr>
        <p:txBody>
          <a:bodyPr wrap="square" rtlCol="0" anchor="ctr"/>
          <a:lstStyle/>
          <a:p>
            <a:pPr algn="ctr" indent="0" marL="0">
              <a:buNone/>
            </a:pPr>
            <a:r>
              <a:rPr lang="en-US" sz="1200" b="1" dirty="0">
                <a:solidFill>
                  <a:srgbClr val="0E3A36"/>
                </a:solidFill>
                <a:latin typeface="Calibri" pitchFamily="34" charset="0"/>
                <a:ea typeface="Calibri" pitchFamily="34" charset="-122"/>
                <a:cs typeface="Calibri" pitchFamily="34" charset="-120"/>
              </a:rPr>
              <a:t>Panel de administración con estadísticas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8F6"/>
        </a:solidFill>
      </p:bgPr>
    </p:bg>
    <p:spTree>
      <p:nvGrpSpPr>
        <p:cNvPr id="1" name=""/>
        <p:cNvGrpSpPr/>
        <p:nvPr/>
      </p:nvGrpSpPr>
      <p:grpSpPr>
        <a:xfrm>
          <a:off x="0" y="0"/>
          <a:ext cx="0" cy="0"/>
          <a:chOff x="0" y="0"/>
          <a:chExt cx="0" cy="0"/>
        </a:xfrm>
      </p:grpSpPr>
      <p:sp>
        <p:nvSpPr>
          <p:cNvPr id="2" name="Shape 0"/>
          <p:cNvSpPr/>
          <p:nvPr/>
        </p:nvSpPr>
        <p:spPr>
          <a:xfrm>
            <a:off x="548640" y="475488"/>
            <a:ext cx="146304" cy="475488"/>
          </a:xfrm>
          <a:prstGeom prst="roundRect">
            <a:avLst>
              <a:gd name="adj" fmla="val 31250"/>
            </a:avLst>
          </a:prstGeom>
          <a:solidFill>
            <a:srgbClr val="1FA463"/>
          </a:solidFill>
          <a:ln/>
        </p:spPr>
      </p:sp>
      <p:sp>
        <p:nvSpPr>
          <p:cNvPr id="3" name="Text 1"/>
          <p:cNvSpPr/>
          <p:nvPr/>
        </p:nvSpPr>
        <p:spPr>
          <a:xfrm>
            <a:off x="841248" y="411480"/>
            <a:ext cx="10789920" cy="640080"/>
          </a:xfrm>
          <a:prstGeom prst="rect">
            <a:avLst/>
          </a:prstGeom>
          <a:noFill/>
          <a:ln/>
        </p:spPr>
        <p:txBody>
          <a:bodyPr wrap="square" lIns="0" tIns="0" rIns="0" bIns="0" rtlCol="0" anchor="ctr"/>
          <a:lstStyle/>
          <a:p>
            <a:pPr indent="0" marL="0">
              <a:buNone/>
            </a:pPr>
            <a:r>
              <a:rPr lang="en-US" sz="2800" b="1" dirty="0">
                <a:solidFill>
                  <a:srgbClr val="0E3A36"/>
                </a:solidFill>
                <a:latin typeface="Calibri" pitchFamily="34" charset="0"/>
                <a:ea typeface="Calibri" pitchFamily="34" charset="-122"/>
                <a:cs typeface="Calibri" pitchFamily="34" charset="-120"/>
              </a:rPr>
              <a:t>Resultados y evaluación</a:t>
            </a:r>
            <a:endParaRPr lang="en-US" sz="2800" dirty="0"/>
          </a:p>
        </p:txBody>
      </p:sp>
      <p:sp>
        <p:nvSpPr>
          <p:cNvPr id="4" name="Text 2"/>
          <p:cNvSpPr/>
          <p:nvPr/>
        </p:nvSpPr>
        <p:spPr>
          <a:xfrm>
            <a:off x="548640" y="6437376"/>
            <a:ext cx="5486400" cy="274320"/>
          </a:xfrm>
          <a:prstGeom prst="rect">
            <a:avLst/>
          </a:prstGeom>
          <a:noFill/>
          <a:ln/>
        </p:spPr>
        <p:txBody>
          <a:bodyPr wrap="square" rtlCol="0" anchor="ctr"/>
          <a:lstStyle/>
          <a:p>
            <a:pPr indent="0" marL="0">
              <a:buNone/>
            </a:pPr>
            <a:r>
              <a:rPr lang="en-US" sz="900" dirty="0">
                <a:solidFill>
                  <a:srgbClr val="5E6E6B"/>
                </a:solidFill>
                <a:latin typeface="Calibri" pitchFamily="34" charset="0"/>
                <a:ea typeface="Calibri" pitchFamily="34" charset="-122"/>
                <a:cs typeface="Calibri" pitchFamily="34" charset="-120"/>
              </a:rPr>
              <a:t>EcoAlerta · Trabajo Fin de Grado</a:t>
            </a:r>
            <a:endParaRPr lang="en-US" sz="900" dirty="0"/>
          </a:p>
        </p:txBody>
      </p:sp>
      <p:sp>
        <p:nvSpPr>
          <p:cNvPr id="5" name="Text 3"/>
          <p:cNvSpPr/>
          <p:nvPr/>
        </p:nvSpPr>
        <p:spPr>
          <a:xfrm>
            <a:off x="10725912" y="6437376"/>
            <a:ext cx="914400" cy="274320"/>
          </a:xfrm>
          <a:prstGeom prst="rect">
            <a:avLst/>
          </a:prstGeom>
          <a:noFill/>
          <a:ln/>
        </p:spPr>
        <p:txBody>
          <a:bodyPr wrap="square" rtlCol="0" anchor="ctr"/>
          <a:lstStyle/>
          <a:p>
            <a:pPr algn="r" indent="0" marL="0">
              <a:buNone/>
            </a:pPr>
            <a:r>
              <a:rPr lang="en-US" sz="900" dirty="0">
                <a:solidFill>
                  <a:srgbClr val="5E6E6B"/>
                </a:solidFill>
                <a:latin typeface="Calibri" pitchFamily="34" charset="0"/>
                <a:ea typeface="Calibri" pitchFamily="34" charset="-122"/>
                <a:cs typeface="Calibri" pitchFamily="34" charset="-120"/>
              </a:rPr>
              <a:t>10 / 13</a:t>
            </a:r>
            <a:endParaRPr lang="en-US" sz="900" dirty="0"/>
          </a:p>
        </p:txBody>
      </p:sp>
      <p:sp>
        <p:nvSpPr>
          <p:cNvPr id="6" name="Shape 4"/>
          <p:cNvSpPr/>
          <p:nvPr/>
        </p:nvSpPr>
        <p:spPr>
          <a:xfrm>
            <a:off x="548640" y="1371600"/>
            <a:ext cx="5760720" cy="4846320"/>
          </a:xfrm>
          <a:prstGeom prst="roundRect">
            <a:avLst>
              <a:gd name="adj" fmla="val 1509"/>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7" name="Text 5"/>
          <p:cNvSpPr/>
          <p:nvPr/>
        </p:nvSpPr>
        <p:spPr>
          <a:xfrm>
            <a:off x="777240" y="1508760"/>
            <a:ext cx="5303520" cy="365760"/>
          </a:xfrm>
          <a:prstGeom prst="rect">
            <a:avLst/>
          </a:prstGeom>
          <a:noFill/>
          <a:ln/>
        </p:spPr>
        <p:txBody>
          <a:bodyPr wrap="square" rtlCol="0" anchor="ctr"/>
          <a:lstStyle/>
          <a:p>
            <a:pPr indent="0" marL="0">
              <a:buNone/>
            </a:pPr>
            <a:r>
              <a:rPr lang="en-US" sz="1500" b="1" dirty="0">
                <a:solidFill>
                  <a:srgbClr val="0E3A36"/>
                </a:solidFill>
                <a:latin typeface="Calibri" pitchFamily="34" charset="0"/>
                <a:ea typeface="Calibri" pitchFamily="34" charset="-122"/>
                <a:cs typeface="Calibri" pitchFamily="34" charset="-120"/>
              </a:rPr>
              <a:t>Cobertura del backend (Jest)</a:t>
            </a:r>
            <a:endParaRPr lang="en-US" sz="1500" dirty="0"/>
          </a:p>
        </p:txBody>
      </p:sp>
      <p:graphicFrame>
        <p:nvGraphicFramePr>
          <p:cNvPr id="8" name="Chart 0" descr=""/>
          <p:cNvGraphicFramePr/>
          <p:nvPr/>
        </p:nvGraphicFramePr>
        <p:xfrm>
          <a:off x="685800" y="1874520"/>
          <a:ext cx="5486400" cy="35661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777240" y="5760720"/>
            <a:ext cx="5394960" cy="411480"/>
          </a:xfrm>
          <a:prstGeom prst="rect">
            <a:avLst/>
          </a:prstGeom>
          <a:noFill/>
          <a:ln/>
        </p:spPr>
        <p:txBody>
          <a:bodyPr wrap="square" rtlCol="0" anchor="ctr"/>
          <a:lstStyle/>
          <a:p>
            <a:pPr indent="0" marL="0">
              <a:buNone/>
            </a:pPr>
            <a:r>
              <a:rPr lang="en-US" sz="1050" i="1" dirty="0">
                <a:solidFill>
                  <a:srgbClr val="5E6E6B"/>
                </a:solidFill>
                <a:latin typeface="Calibri" pitchFamily="34" charset="0"/>
                <a:ea typeface="Calibri" pitchFamily="34" charset="-122"/>
                <a:cs typeface="Calibri" pitchFamily="34" charset="-120"/>
              </a:rPr>
              <a:t>Objetivo RNF-08: 70 %. Las ramas de error (branches) quedan por debajo — limitación reconocida.</a:t>
            </a:r>
            <a:endParaRPr lang="en-US" sz="1050" dirty="0"/>
          </a:p>
        </p:txBody>
      </p:sp>
      <p:sp>
        <p:nvSpPr>
          <p:cNvPr id="10" name="Shape 7"/>
          <p:cNvSpPr/>
          <p:nvPr/>
        </p:nvSpPr>
        <p:spPr>
          <a:xfrm>
            <a:off x="6537960" y="1371600"/>
            <a:ext cx="5257800" cy="1097280"/>
          </a:xfrm>
          <a:prstGeom prst="roundRect">
            <a:avLst>
              <a:gd name="adj" fmla="val 6667"/>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1" name="Shape 8"/>
          <p:cNvSpPr/>
          <p:nvPr/>
        </p:nvSpPr>
        <p:spPr>
          <a:xfrm>
            <a:off x="6739128" y="1645920"/>
            <a:ext cx="548640" cy="548640"/>
          </a:xfrm>
          <a:prstGeom prst="ellipse">
            <a:avLst/>
          </a:prstGeom>
          <a:solidFill>
            <a:srgbClr val="E3F3EA"/>
          </a:solidFill>
          <a:ln/>
        </p:spPr>
      </p:sp>
      <p:pic>
        <p:nvPicPr>
          <p:cNvPr id="12" name="Image 0" descr="preencoded.png">    </p:cNvPr>
          <p:cNvPicPr>
            <a:picLocks noChangeAspect="1"/>
          </p:cNvPicPr>
          <p:nvPr/>
        </p:nvPicPr>
        <p:blipFill>
          <a:blip r:embed="rId2"/>
          <a:stretch>
            <a:fillRect/>
          </a:stretch>
        </p:blipFill>
        <p:spPr>
          <a:xfrm>
            <a:off x="6876288" y="1783080"/>
            <a:ext cx="274320" cy="274320"/>
          </a:xfrm>
          <a:prstGeom prst="rect">
            <a:avLst/>
          </a:prstGeom>
        </p:spPr>
      </p:pic>
      <p:sp>
        <p:nvSpPr>
          <p:cNvPr id="13" name="Text 9"/>
          <p:cNvSpPr/>
          <p:nvPr/>
        </p:nvSpPr>
        <p:spPr>
          <a:xfrm>
            <a:off x="7452360" y="1536192"/>
            <a:ext cx="4160520" cy="384048"/>
          </a:xfrm>
          <a:prstGeom prst="rect">
            <a:avLst/>
          </a:prstGeom>
          <a:noFill/>
          <a:ln/>
        </p:spPr>
        <p:txBody>
          <a:bodyPr wrap="square" rtlCol="0" anchor="ctr"/>
          <a:lstStyle/>
          <a:p>
            <a:pPr indent="0" marL="0">
              <a:buNone/>
            </a:pPr>
            <a:r>
              <a:rPr lang="en-US" sz="1500" b="1" dirty="0">
                <a:solidFill>
                  <a:srgbClr val="0E3A36"/>
                </a:solidFill>
                <a:latin typeface="Calibri" pitchFamily="34" charset="0"/>
                <a:ea typeface="Calibri" pitchFamily="34" charset="-122"/>
                <a:cs typeface="Calibri" pitchFamily="34" charset="-120"/>
              </a:rPr>
              <a:t>Despliegue reproducible</a:t>
            </a:r>
            <a:endParaRPr lang="en-US" sz="1500" dirty="0"/>
          </a:p>
        </p:txBody>
      </p:sp>
      <p:sp>
        <p:nvSpPr>
          <p:cNvPr id="14" name="Text 10"/>
          <p:cNvSpPr/>
          <p:nvPr/>
        </p:nvSpPr>
        <p:spPr>
          <a:xfrm>
            <a:off x="7452360" y="1920240"/>
            <a:ext cx="4160520" cy="45720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con un solo comando (docker compose)</a:t>
            </a:r>
            <a:endParaRPr lang="en-US" sz="1200" dirty="0"/>
          </a:p>
        </p:txBody>
      </p:sp>
      <p:sp>
        <p:nvSpPr>
          <p:cNvPr id="15" name="Shape 11"/>
          <p:cNvSpPr/>
          <p:nvPr/>
        </p:nvSpPr>
        <p:spPr>
          <a:xfrm>
            <a:off x="6537960" y="2606040"/>
            <a:ext cx="5257800" cy="1097280"/>
          </a:xfrm>
          <a:prstGeom prst="roundRect">
            <a:avLst>
              <a:gd name="adj" fmla="val 6667"/>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6" name="Shape 12"/>
          <p:cNvSpPr/>
          <p:nvPr/>
        </p:nvSpPr>
        <p:spPr>
          <a:xfrm>
            <a:off x="6739128" y="2880360"/>
            <a:ext cx="548640" cy="548640"/>
          </a:xfrm>
          <a:prstGeom prst="ellipse">
            <a:avLst/>
          </a:prstGeom>
          <a:solidFill>
            <a:srgbClr val="E3F3EA"/>
          </a:solidFill>
          <a:ln/>
        </p:spPr>
      </p:sp>
      <p:pic>
        <p:nvPicPr>
          <p:cNvPr id="17" name="Image 1" descr="preencoded.png">    </p:cNvPr>
          <p:cNvPicPr>
            <a:picLocks noChangeAspect="1"/>
          </p:cNvPicPr>
          <p:nvPr/>
        </p:nvPicPr>
        <p:blipFill>
          <a:blip r:embed="rId3"/>
          <a:stretch>
            <a:fillRect/>
          </a:stretch>
        </p:blipFill>
        <p:spPr>
          <a:xfrm>
            <a:off x="6876288" y="3017520"/>
            <a:ext cx="274320" cy="274320"/>
          </a:xfrm>
          <a:prstGeom prst="rect">
            <a:avLst/>
          </a:prstGeom>
        </p:spPr>
      </p:pic>
      <p:sp>
        <p:nvSpPr>
          <p:cNvPr id="18" name="Text 13"/>
          <p:cNvSpPr/>
          <p:nvPr/>
        </p:nvSpPr>
        <p:spPr>
          <a:xfrm>
            <a:off x="7452360" y="2770632"/>
            <a:ext cx="4160520" cy="384048"/>
          </a:xfrm>
          <a:prstGeom prst="rect">
            <a:avLst/>
          </a:prstGeom>
          <a:noFill/>
          <a:ln/>
        </p:spPr>
        <p:txBody>
          <a:bodyPr wrap="square" rtlCol="0" anchor="ctr"/>
          <a:lstStyle/>
          <a:p>
            <a:pPr indent="0" marL="0">
              <a:buNone/>
            </a:pPr>
            <a:r>
              <a:rPr lang="en-US" sz="1500" b="1" dirty="0">
                <a:solidFill>
                  <a:srgbClr val="0E3A36"/>
                </a:solidFill>
                <a:latin typeface="Calibri" pitchFamily="34" charset="0"/>
                <a:ea typeface="Calibri" pitchFamily="34" charset="-122"/>
                <a:cs typeface="Calibri" pitchFamily="34" charset="-120"/>
              </a:rPr>
              <a:t>Geoespacial &lt; 500 ms</a:t>
            </a:r>
            <a:endParaRPr lang="en-US" sz="1500" dirty="0"/>
          </a:p>
        </p:txBody>
      </p:sp>
      <p:sp>
        <p:nvSpPr>
          <p:cNvPr id="19" name="Text 14"/>
          <p:cNvSpPr/>
          <p:nvPr/>
        </p:nvSpPr>
        <p:spPr>
          <a:xfrm>
            <a:off x="7452360" y="3154680"/>
            <a:ext cx="4160520" cy="45720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en radio de 5 km</a:t>
            </a:r>
            <a:endParaRPr lang="en-US" sz="1200" dirty="0"/>
          </a:p>
        </p:txBody>
      </p:sp>
      <p:sp>
        <p:nvSpPr>
          <p:cNvPr id="20" name="Shape 15"/>
          <p:cNvSpPr/>
          <p:nvPr/>
        </p:nvSpPr>
        <p:spPr>
          <a:xfrm>
            <a:off x="6537960" y="3840480"/>
            <a:ext cx="5257800" cy="1097280"/>
          </a:xfrm>
          <a:prstGeom prst="roundRect">
            <a:avLst>
              <a:gd name="adj" fmla="val 6667"/>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21" name="Shape 16"/>
          <p:cNvSpPr/>
          <p:nvPr/>
        </p:nvSpPr>
        <p:spPr>
          <a:xfrm>
            <a:off x="6739128" y="4114800"/>
            <a:ext cx="548640" cy="548640"/>
          </a:xfrm>
          <a:prstGeom prst="ellipse">
            <a:avLst/>
          </a:prstGeom>
          <a:solidFill>
            <a:srgbClr val="E3F3EA"/>
          </a:solidFill>
          <a:ln/>
        </p:spPr>
      </p:sp>
      <p:pic>
        <p:nvPicPr>
          <p:cNvPr id="22" name="Image 2" descr="preencoded.png">    </p:cNvPr>
          <p:cNvPicPr>
            <a:picLocks noChangeAspect="1"/>
          </p:cNvPicPr>
          <p:nvPr/>
        </p:nvPicPr>
        <p:blipFill>
          <a:blip r:embed="rId4"/>
          <a:stretch>
            <a:fillRect/>
          </a:stretch>
        </p:blipFill>
        <p:spPr>
          <a:xfrm>
            <a:off x="6876288" y="4251960"/>
            <a:ext cx="274320" cy="274320"/>
          </a:xfrm>
          <a:prstGeom prst="rect">
            <a:avLst/>
          </a:prstGeom>
        </p:spPr>
      </p:pic>
      <p:sp>
        <p:nvSpPr>
          <p:cNvPr id="23" name="Text 17"/>
          <p:cNvSpPr/>
          <p:nvPr/>
        </p:nvSpPr>
        <p:spPr>
          <a:xfrm>
            <a:off x="7452360" y="4005072"/>
            <a:ext cx="4160520" cy="384048"/>
          </a:xfrm>
          <a:prstGeom prst="rect">
            <a:avLst/>
          </a:prstGeom>
          <a:noFill/>
          <a:ln/>
        </p:spPr>
        <p:txBody>
          <a:bodyPr wrap="square" rtlCol="0" anchor="ctr"/>
          <a:lstStyle/>
          <a:p>
            <a:pPr indent="0" marL="0">
              <a:buNone/>
            </a:pPr>
            <a:r>
              <a:rPr lang="en-US" sz="1500" b="1" dirty="0">
                <a:solidFill>
                  <a:srgbClr val="0E3A36"/>
                </a:solidFill>
                <a:latin typeface="Calibri" pitchFamily="34" charset="0"/>
                <a:ea typeface="Calibri" pitchFamily="34" charset="-122"/>
                <a:cs typeface="Calibri" pitchFamily="34" charset="-120"/>
              </a:rPr>
              <a:t>Pirámide de pruebas</a:t>
            </a:r>
            <a:endParaRPr lang="en-US" sz="1500" dirty="0"/>
          </a:p>
        </p:txBody>
      </p:sp>
      <p:sp>
        <p:nvSpPr>
          <p:cNvPr id="24" name="Text 18"/>
          <p:cNvSpPr/>
          <p:nvPr/>
        </p:nvSpPr>
        <p:spPr>
          <a:xfrm>
            <a:off x="7452360" y="4389120"/>
            <a:ext cx="4160520" cy="45720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Jest + Supertest y E2E con Playwright en 3 navegadores</a:t>
            </a:r>
            <a:endParaRPr lang="en-US" sz="1200" dirty="0"/>
          </a:p>
        </p:txBody>
      </p:sp>
      <p:sp>
        <p:nvSpPr>
          <p:cNvPr id="25" name="Shape 19"/>
          <p:cNvSpPr/>
          <p:nvPr/>
        </p:nvSpPr>
        <p:spPr>
          <a:xfrm>
            <a:off x="6537960" y="5074920"/>
            <a:ext cx="5257800" cy="1097280"/>
          </a:xfrm>
          <a:prstGeom prst="roundRect">
            <a:avLst>
              <a:gd name="adj" fmla="val 6667"/>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26" name="Shape 20"/>
          <p:cNvSpPr/>
          <p:nvPr/>
        </p:nvSpPr>
        <p:spPr>
          <a:xfrm>
            <a:off x="6739128" y="5349240"/>
            <a:ext cx="548640" cy="548640"/>
          </a:xfrm>
          <a:prstGeom prst="ellipse">
            <a:avLst/>
          </a:prstGeom>
          <a:solidFill>
            <a:srgbClr val="E3F3EA"/>
          </a:solidFill>
          <a:ln/>
        </p:spPr>
      </p:sp>
      <p:pic>
        <p:nvPicPr>
          <p:cNvPr id="27" name="Image 3" descr="preencoded.png">    </p:cNvPr>
          <p:cNvPicPr>
            <a:picLocks noChangeAspect="1"/>
          </p:cNvPicPr>
          <p:nvPr/>
        </p:nvPicPr>
        <p:blipFill>
          <a:blip r:embed="rId5"/>
          <a:stretch>
            <a:fillRect/>
          </a:stretch>
        </p:blipFill>
        <p:spPr>
          <a:xfrm>
            <a:off x="6876288" y="5486400"/>
            <a:ext cx="274320" cy="274320"/>
          </a:xfrm>
          <a:prstGeom prst="rect">
            <a:avLst/>
          </a:prstGeom>
        </p:spPr>
      </p:pic>
      <p:sp>
        <p:nvSpPr>
          <p:cNvPr id="28" name="Text 21"/>
          <p:cNvSpPr/>
          <p:nvPr/>
        </p:nvSpPr>
        <p:spPr>
          <a:xfrm>
            <a:off x="7452360" y="5239512"/>
            <a:ext cx="4160520" cy="384048"/>
          </a:xfrm>
          <a:prstGeom prst="rect">
            <a:avLst/>
          </a:prstGeom>
          <a:noFill/>
          <a:ln/>
        </p:spPr>
        <p:txBody>
          <a:bodyPr wrap="square" rtlCol="0" anchor="ctr"/>
          <a:lstStyle/>
          <a:p>
            <a:pPr indent="0" marL="0">
              <a:buNone/>
            </a:pPr>
            <a:r>
              <a:rPr lang="en-US" sz="1500" b="1" dirty="0">
                <a:solidFill>
                  <a:srgbClr val="0E3A36"/>
                </a:solidFill>
                <a:latin typeface="Calibri" pitchFamily="34" charset="0"/>
                <a:ea typeface="Calibri" pitchFamily="34" charset="-122"/>
                <a:cs typeface="Calibri" pitchFamily="34" charset="-120"/>
              </a:rPr>
              <a:t>Requisitos de prioridad alta</a:t>
            </a:r>
            <a:endParaRPr lang="en-US" sz="1500" dirty="0"/>
          </a:p>
        </p:txBody>
      </p:sp>
      <p:sp>
        <p:nvSpPr>
          <p:cNvPr id="29" name="Text 22"/>
          <p:cNvSpPr/>
          <p:nvPr/>
        </p:nvSpPr>
        <p:spPr>
          <a:xfrm>
            <a:off x="7452360" y="5623560"/>
            <a:ext cx="4160520" cy="457200"/>
          </a:xfrm>
          <a:prstGeom prst="rect">
            <a:avLst/>
          </a:prstGeom>
          <a:noFill/>
          <a:ln/>
        </p:spPr>
        <p:txBody>
          <a:bodyPr wrap="square" rtlCol="0" anchor="ctr"/>
          <a:lstStyle/>
          <a:p>
            <a:pPr indent="0" marL="0">
              <a:buNone/>
            </a:pPr>
            <a:r>
              <a:rPr lang="en-US" sz="1200" dirty="0">
                <a:solidFill>
                  <a:srgbClr val="16302E"/>
                </a:solidFill>
                <a:latin typeface="Calibri" pitchFamily="34" charset="0"/>
                <a:ea typeface="Calibri" pitchFamily="34" charset="-122"/>
                <a:cs typeface="Calibri" pitchFamily="34" charset="-120"/>
              </a:rPr>
              <a:t>todos cumplidos y respaldados por pruebas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3A36"/>
        </a:solidFill>
      </p:bgPr>
    </p:bg>
    <p:spTree>
      <p:nvGrpSpPr>
        <p:cNvPr id="1" name=""/>
        <p:cNvGrpSpPr/>
        <p:nvPr/>
      </p:nvGrpSpPr>
      <p:grpSpPr>
        <a:xfrm>
          <a:off x="0" y="0"/>
          <a:ext cx="0" cy="0"/>
          <a:chOff x="0" y="0"/>
          <a:chExt cx="0" cy="0"/>
        </a:xfrm>
      </p:grpSpPr>
      <p:sp>
        <p:nvSpPr>
          <p:cNvPr id="2" name="Shape 0"/>
          <p:cNvSpPr/>
          <p:nvPr/>
        </p:nvSpPr>
        <p:spPr>
          <a:xfrm>
            <a:off x="9509760" y="-1828800"/>
            <a:ext cx="5120640" cy="5120640"/>
          </a:xfrm>
          <a:prstGeom prst="ellipse">
            <a:avLst/>
          </a:prstGeom>
          <a:solidFill>
            <a:srgbClr val="12693E">
              <a:alpha val="30000"/>
            </a:srgbClr>
          </a:solidFill>
          <a:ln/>
        </p:spPr>
      </p:sp>
      <p:sp>
        <p:nvSpPr>
          <p:cNvPr id="3" name="Shape 1"/>
          <p:cNvSpPr/>
          <p:nvPr/>
        </p:nvSpPr>
        <p:spPr>
          <a:xfrm>
            <a:off x="548640" y="502920"/>
            <a:ext cx="146304" cy="475488"/>
          </a:xfrm>
          <a:prstGeom prst="roundRect">
            <a:avLst>
              <a:gd name="adj" fmla="val 31250"/>
            </a:avLst>
          </a:prstGeom>
          <a:solidFill>
            <a:srgbClr val="1FA463"/>
          </a:solidFill>
          <a:ln/>
        </p:spPr>
      </p:sp>
      <p:sp>
        <p:nvSpPr>
          <p:cNvPr id="4" name="Text 2"/>
          <p:cNvSpPr/>
          <p:nvPr/>
        </p:nvSpPr>
        <p:spPr>
          <a:xfrm>
            <a:off x="841248" y="438912"/>
            <a:ext cx="100584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Conclusiones</a:t>
            </a:r>
            <a:endParaRPr lang="en-US" sz="2800" dirty="0"/>
          </a:p>
        </p:txBody>
      </p:sp>
      <p:sp>
        <p:nvSpPr>
          <p:cNvPr id="5" name="Text 3"/>
          <p:cNvSpPr/>
          <p:nvPr/>
        </p:nvSpPr>
        <p:spPr>
          <a:xfrm>
            <a:off x="548640" y="1325880"/>
            <a:ext cx="11064240" cy="1005840"/>
          </a:xfrm>
          <a:prstGeom prst="rect">
            <a:avLst/>
          </a:prstGeom>
          <a:noFill/>
          <a:ln/>
        </p:spPr>
        <p:txBody>
          <a:bodyPr wrap="square" rtlCol="0" anchor="ctr"/>
          <a:lstStyle/>
          <a:p>
            <a:pPr algn="ctr" indent="0" marL="0">
              <a:buNone/>
            </a:pPr>
            <a:r>
              <a:rPr lang="en-US" sz="4000" b="1" dirty="0">
                <a:solidFill>
                  <a:srgbClr val="1FA463"/>
                </a:solidFill>
                <a:latin typeface="Calibri" pitchFamily="34" charset="0"/>
                <a:ea typeface="Calibri" pitchFamily="34" charset="-122"/>
                <a:cs typeface="Calibri" pitchFamily="34" charset="-120"/>
              </a:rPr>
              <a:t>7 / 8</a:t>
            </a:r>
            <a:pPr algn="ctr" indent="0" marL="0">
              <a:buNone/>
            </a:pPr>
            <a:r>
              <a:rPr lang="en-US" sz="4000" b="1" dirty="0">
                <a:solidFill>
                  <a:srgbClr val="FFFFFF"/>
                </a:solidFill>
                <a:latin typeface="Calibri" pitchFamily="34" charset="0"/>
                <a:ea typeface="Calibri" pitchFamily="34" charset="-122"/>
                <a:cs typeface="Calibri" pitchFamily="34" charset="-120"/>
              </a:rPr>
              <a:t>  objetivos cumplidos plenamente</a:t>
            </a:r>
            <a:endParaRPr lang="en-US" sz="4000" dirty="0"/>
          </a:p>
        </p:txBody>
      </p:sp>
      <p:sp>
        <p:nvSpPr>
          <p:cNvPr id="6" name="Text 4"/>
          <p:cNvSpPr/>
          <p:nvPr/>
        </p:nvSpPr>
        <p:spPr>
          <a:xfrm>
            <a:off x="1371600" y="2331720"/>
            <a:ext cx="9418320" cy="457200"/>
          </a:xfrm>
          <a:prstGeom prst="rect">
            <a:avLst/>
          </a:prstGeom>
          <a:noFill/>
          <a:ln/>
        </p:spPr>
        <p:txBody>
          <a:bodyPr wrap="square" rtlCol="0" anchor="ctr"/>
          <a:lstStyle/>
          <a:p>
            <a:pPr algn="ctr" indent="0" marL="0">
              <a:buNone/>
            </a:pPr>
            <a:r>
              <a:rPr lang="en-US" sz="1400" i="1" dirty="0">
                <a:solidFill>
                  <a:srgbClr val="CFE6DE"/>
                </a:solidFill>
                <a:latin typeface="Calibri" pitchFamily="34" charset="0"/>
                <a:ea typeface="Calibri" pitchFamily="34" charset="-122"/>
                <a:cs typeface="Calibri" pitchFamily="34" charset="-120"/>
              </a:rPr>
              <a:t>El objetivo 7 (usabilidad con usuarios reales) queda parcial y se reconoce como trabajo futuro inmediato.</a:t>
            </a:r>
            <a:endParaRPr lang="en-US" sz="1400" dirty="0"/>
          </a:p>
        </p:txBody>
      </p:sp>
      <p:sp>
        <p:nvSpPr>
          <p:cNvPr id="7" name="Shape 5"/>
          <p:cNvSpPr/>
          <p:nvPr/>
        </p:nvSpPr>
        <p:spPr>
          <a:xfrm>
            <a:off x="548640" y="3108960"/>
            <a:ext cx="3593592" cy="2788920"/>
          </a:xfrm>
          <a:prstGeom prst="roundRect">
            <a:avLst>
              <a:gd name="adj" fmla="val 2623"/>
            </a:avLst>
          </a:prstGeom>
          <a:solidFill>
            <a:srgbClr val="0A2D2A"/>
          </a:solidFill>
          <a:ln w="12700">
            <a:solidFill>
              <a:srgbClr val="1C534D"/>
            </a:solidFill>
            <a:prstDash val="solid"/>
          </a:ln>
        </p:spPr>
      </p:sp>
      <p:sp>
        <p:nvSpPr>
          <p:cNvPr id="8" name="Shape 6"/>
          <p:cNvSpPr/>
          <p:nvPr/>
        </p:nvSpPr>
        <p:spPr>
          <a:xfrm>
            <a:off x="1888236" y="3429000"/>
            <a:ext cx="914400" cy="914400"/>
          </a:xfrm>
          <a:prstGeom prst="ellipse">
            <a:avLst/>
          </a:prstGeom>
          <a:solidFill>
            <a:srgbClr val="1FA463"/>
          </a:solidFill>
          <a:ln/>
        </p:spPr>
      </p:sp>
      <p:pic>
        <p:nvPicPr>
          <p:cNvPr id="9" name="Image 0" descr="preencoded.png">    </p:cNvPr>
          <p:cNvPicPr>
            <a:picLocks noChangeAspect="1"/>
          </p:cNvPicPr>
          <p:nvPr/>
        </p:nvPicPr>
        <p:blipFill>
          <a:blip r:embed="rId1"/>
          <a:stretch>
            <a:fillRect/>
          </a:stretch>
        </p:blipFill>
        <p:spPr>
          <a:xfrm>
            <a:off x="2098548" y="3639312"/>
            <a:ext cx="493776" cy="493776"/>
          </a:xfrm>
          <a:prstGeom prst="rect">
            <a:avLst/>
          </a:prstGeom>
        </p:spPr>
      </p:pic>
      <p:sp>
        <p:nvSpPr>
          <p:cNvPr id="10" name="Text 7"/>
          <p:cNvSpPr/>
          <p:nvPr/>
        </p:nvSpPr>
        <p:spPr>
          <a:xfrm>
            <a:off x="731520" y="4480560"/>
            <a:ext cx="3227832" cy="64008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Transparencia con la IA</a:t>
            </a:r>
            <a:endParaRPr lang="en-US" sz="1700" dirty="0"/>
          </a:p>
        </p:txBody>
      </p:sp>
      <p:sp>
        <p:nvSpPr>
          <p:cNvPr id="11" name="Text 8"/>
          <p:cNvSpPr/>
          <p:nvPr/>
        </p:nvSpPr>
        <p:spPr>
          <a:xfrm>
            <a:off x="777240" y="5074920"/>
            <a:ext cx="3136392" cy="731520"/>
          </a:xfrm>
          <a:prstGeom prst="rect">
            <a:avLst/>
          </a:prstGeom>
          <a:noFill/>
          <a:ln/>
        </p:spPr>
        <p:txBody>
          <a:bodyPr wrap="square" rtlCol="0" anchor="ctr"/>
          <a:lstStyle/>
          <a:p>
            <a:pPr algn="ctr" indent="0" marL="0">
              <a:buNone/>
            </a:pPr>
            <a:r>
              <a:rPr lang="en-US" sz="1250" dirty="0">
                <a:solidFill>
                  <a:srgbClr val="CFE6DE"/>
                </a:solidFill>
                <a:latin typeface="Calibri" pitchFamily="34" charset="0"/>
                <a:ea typeface="Calibri" pitchFamily="34" charset="-122"/>
                <a:cs typeface="Calibri" pitchFamily="34" charset="-120"/>
              </a:rPr>
              <a:t>Usada y declarada, con trazas auditables en el repositorio.</a:t>
            </a:r>
            <a:endParaRPr lang="en-US" sz="1250" dirty="0"/>
          </a:p>
        </p:txBody>
      </p:sp>
      <p:sp>
        <p:nvSpPr>
          <p:cNvPr id="12" name="Shape 9"/>
          <p:cNvSpPr/>
          <p:nvPr/>
        </p:nvSpPr>
        <p:spPr>
          <a:xfrm>
            <a:off x="4297680" y="3108960"/>
            <a:ext cx="3593592" cy="2788920"/>
          </a:xfrm>
          <a:prstGeom prst="roundRect">
            <a:avLst>
              <a:gd name="adj" fmla="val 2623"/>
            </a:avLst>
          </a:prstGeom>
          <a:solidFill>
            <a:srgbClr val="0A2D2A"/>
          </a:solidFill>
          <a:ln w="12700">
            <a:solidFill>
              <a:srgbClr val="1C534D"/>
            </a:solidFill>
            <a:prstDash val="solid"/>
          </a:ln>
        </p:spPr>
      </p:sp>
      <p:sp>
        <p:nvSpPr>
          <p:cNvPr id="13" name="Shape 10"/>
          <p:cNvSpPr/>
          <p:nvPr/>
        </p:nvSpPr>
        <p:spPr>
          <a:xfrm>
            <a:off x="5637276" y="3429000"/>
            <a:ext cx="914400" cy="914400"/>
          </a:xfrm>
          <a:prstGeom prst="ellipse">
            <a:avLst/>
          </a:prstGeom>
          <a:solidFill>
            <a:srgbClr val="1FA463"/>
          </a:solidFill>
          <a:ln/>
        </p:spPr>
      </p:sp>
      <p:pic>
        <p:nvPicPr>
          <p:cNvPr id="14" name="Image 1" descr="preencoded.png">    </p:cNvPr>
          <p:cNvPicPr>
            <a:picLocks noChangeAspect="1"/>
          </p:cNvPicPr>
          <p:nvPr/>
        </p:nvPicPr>
        <p:blipFill>
          <a:blip r:embed="rId2"/>
          <a:stretch>
            <a:fillRect/>
          </a:stretch>
        </p:blipFill>
        <p:spPr>
          <a:xfrm>
            <a:off x="5847588" y="3639312"/>
            <a:ext cx="493776" cy="493776"/>
          </a:xfrm>
          <a:prstGeom prst="rect">
            <a:avLst/>
          </a:prstGeom>
        </p:spPr>
      </p:pic>
      <p:sp>
        <p:nvSpPr>
          <p:cNvPr id="15" name="Text 11"/>
          <p:cNvSpPr/>
          <p:nvPr/>
        </p:nvSpPr>
        <p:spPr>
          <a:xfrm>
            <a:off x="4480560" y="4480560"/>
            <a:ext cx="3227832" cy="64008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Calidad cercana a producción</a:t>
            </a:r>
            <a:endParaRPr lang="en-US" sz="1700" dirty="0"/>
          </a:p>
        </p:txBody>
      </p:sp>
      <p:sp>
        <p:nvSpPr>
          <p:cNvPr id="16" name="Text 12"/>
          <p:cNvSpPr/>
          <p:nvPr/>
        </p:nvSpPr>
        <p:spPr>
          <a:xfrm>
            <a:off x="4526280" y="5074920"/>
            <a:ext cx="3136392" cy="731520"/>
          </a:xfrm>
          <a:prstGeom prst="rect">
            <a:avLst/>
          </a:prstGeom>
          <a:noFill/>
          <a:ln/>
        </p:spPr>
        <p:txBody>
          <a:bodyPr wrap="square" rtlCol="0" anchor="ctr"/>
          <a:lstStyle/>
          <a:p>
            <a:pPr algn="ctr" indent="0" marL="0">
              <a:buNone/>
            </a:pPr>
            <a:r>
              <a:rPr lang="en-US" sz="1250" dirty="0">
                <a:solidFill>
                  <a:srgbClr val="CFE6DE"/>
                </a:solidFill>
                <a:latin typeface="Calibri" pitchFamily="34" charset="0"/>
                <a:ea typeface="Calibri" pitchFamily="34" charset="-122"/>
                <a:cs typeface="Calibri" pitchFamily="34" charset="-120"/>
              </a:rPr>
              <a:t>CI/CD, audit log, 2FA, capacidad offline y API documentada.</a:t>
            </a:r>
            <a:endParaRPr lang="en-US" sz="1250" dirty="0"/>
          </a:p>
        </p:txBody>
      </p:sp>
      <p:sp>
        <p:nvSpPr>
          <p:cNvPr id="17" name="Shape 13"/>
          <p:cNvSpPr/>
          <p:nvPr/>
        </p:nvSpPr>
        <p:spPr>
          <a:xfrm>
            <a:off x="8046720" y="3108960"/>
            <a:ext cx="3593592" cy="2788920"/>
          </a:xfrm>
          <a:prstGeom prst="roundRect">
            <a:avLst>
              <a:gd name="adj" fmla="val 2623"/>
            </a:avLst>
          </a:prstGeom>
          <a:solidFill>
            <a:srgbClr val="0A2D2A"/>
          </a:solidFill>
          <a:ln w="12700">
            <a:solidFill>
              <a:srgbClr val="1C534D"/>
            </a:solidFill>
            <a:prstDash val="solid"/>
          </a:ln>
        </p:spPr>
      </p:sp>
      <p:sp>
        <p:nvSpPr>
          <p:cNvPr id="18" name="Shape 14"/>
          <p:cNvSpPr/>
          <p:nvPr/>
        </p:nvSpPr>
        <p:spPr>
          <a:xfrm>
            <a:off x="9386316" y="3429000"/>
            <a:ext cx="914400" cy="914400"/>
          </a:xfrm>
          <a:prstGeom prst="ellipse">
            <a:avLst/>
          </a:prstGeom>
          <a:solidFill>
            <a:srgbClr val="1FA463"/>
          </a:solidFill>
          <a:ln/>
        </p:spPr>
      </p:sp>
      <p:pic>
        <p:nvPicPr>
          <p:cNvPr id="19" name="Image 2" descr="preencoded.png">    </p:cNvPr>
          <p:cNvPicPr>
            <a:picLocks noChangeAspect="1"/>
          </p:cNvPicPr>
          <p:nvPr/>
        </p:nvPicPr>
        <p:blipFill>
          <a:blip r:embed="rId3"/>
          <a:stretch>
            <a:fillRect/>
          </a:stretch>
        </p:blipFill>
        <p:spPr>
          <a:xfrm>
            <a:off x="9596628" y="3639312"/>
            <a:ext cx="493776" cy="493776"/>
          </a:xfrm>
          <a:prstGeom prst="rect">
            <a:avLst/>
          </a:prstGeom>
        </p:spPr>
      </p:pic>
      <p:sp>
        <p:nvSpPr>
          <p:cNvPr id="20" name="Text 15"/>
          <p:cNvSpPr/>
          <p:nvPr/>
        </p:nvSpPr>
        <p:spPr>
          <a:xfrm>
            <a:off x="8229600" y="4480560"/>
            <a:ext cx="3227832" cy="64008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Diseño reutilizable</a:t>
            </a:r>
            <a:endParaRPr lang="en-US" sz="1700" dirty="0"/>
          </a:p>
        </p:txBody>
      </p:sp>
      <p:sp>
        <p:nvSpPr>
          <p:cNvPr id="21" name="Text 16"/>
          <p:cNvSpPr/>
          <p:nvPr/>
        </p:nvSpPr>
        <p:spPr>
          <a:xfrm>
            <a:off x="8275320" y="5074920"/>
            <a:ext cx="3136392" cy="731520"/>
          </a:xfrm>
          <a:prstGeom prst="rect">
            <a:avLst/>
          </a:prstGeom>
          <a:noFill/>
          <a:ln/>
        </p:spPr>
        <p:txBody>
          <a:bodyPr wrap="square" rtlCol="0" anchor="ctr"/>
          <a:lstStyle/>
          <a:p>
            <a:pPr algn="ctr" indent="0" marL="0">
              <a:buNone/>
            </a:pPr>
            <a:r>
              <a:rPr lang="en-US" sz="1250" dirty="0">
                <a:solidFill>
                  <a:srgbClr val="CFE6DE"/>
                </a:solidFill>
                <a:latin typeface="Calibri" pitchFamily="34" charset="0"/>
                <a:ea typeface="Calibri" pitchFamily="34" charset="-122"/>
                <a:cs typeface="Calibri" pitchFamily="34" charset="-120"/>
              </a:rPr>
              <a:t>Modelo y patrón de delegación trasladables a otros dominios.</a:t>
            </a:r>
            <a:endParaRPr lang="en-US" sz="1250" dirty="0"/>
          </a:p>
        </p:txBody>
      </p:sp>
      <p:sp>
        <p:nvSpPr>
          <p:cNvPr id="22" name="Text 17"/>
          <p:cNvSpPr/>
          <p:nvPr/>
        </p:nvSpPr>
        <p:spPr>
          <a:xfrm>
            <a:off x="548640" y="6437376"/>
            <a:ext cx="5486400" cy="274320"/>
          </a:xfrm>
          <a:prstGeom prst="rect">
            <a:avLst/>
          </a:prstGeom>
          <a:noFill/>
          <a:ln/>
        </p:spPr>
        <p:txBody>
          <a:bodyPr wrap="square" rtlCol="0" anchor="ctr"/>
          <a:lstStyle/>
          <a:p>
            <a:pPr indent="0" marL="0">
              <a:buNone/>
            </a:pPr>
            <a:r>
              <a:rPr lang="en-US" sz="900" dirty="0">
                <a:solidFill>
                  <a:srgbClr val="5E6E6B"/>
                </a:solidFill>
                <a:latin typeface="Calibri" pitchFamily="34" charset="0"/>
                <a:ea typeface="Calibri" pitchFamily="34" charset="-122"/>
                <a:cs typeface="Calibri" pitchFamily="34" charset="-120"/>
              </a:rPr>
              <a:t>EcoAlerta · Trabajo Fin de Grado</a:t>
            </a:r>
            <a:endParaRPr lang="en-US" sz="900" dirty="0"/>
          </a:p>
        </p:txBody>
      </p:sp>
      <p:sp>
        <p:nvSpPr>
          <p:cNvPr id="23" name="Text 18"/>
          <p:cNvSpPr/>
          <p:nvPr/>
        </p:nvSpPr>
        <p:spPr>
          <a:xfrm>
            <a:off x="10725912" y="6437376"/>
            <a:ext cx="914400" cy="274320"/>
          </a:xfrm>
          <a:prstGeom prst="rect">
            <a:avLst/>
          </a:prstGeom>
          <a:noFill/>
          <a:ln/>
        </p:spPr>
        <p:txBody>
          <a:bodyPr wrap="square" rtlCol="0" anchor="ctr"/>
          <a:lstStyle/>
          <a:p>
            <a:pPr algn="r" indent="0" marL="0">
              <a:buNone/>
            </a:pPr>
            <a:r>
              <a:rPr lang="en-US" sz="900" dirty="0">
                <a:solidFill>
                  <a:srgbClr val="5E6E6B"/>
                </a:solidFill>
                <a:latin typeface="Calibri" pitchFamily="34" charset="0"/>
                <a:ea typeface="Calibri" pitchFamily="34" charset="-122"/>
                <a:cs typeface="Calibri" pitchFamily="34" charset="-120"/>
              </a:rPr>
              <a:t>11 / 13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8F6"/>
        </a:solidFill>
      </p:bgPr>
    </p:bg>
    <p:spTree>
      <p:nvGrpSpPr>
        <p:cNvPr id="1" name=""/>
        <p:cNvGrpSpPr/>
        <p:nvPr/>
      </p:nvGrpSpPr>
      <p:grpSpPr>
        <a:xfrm>
          <a:off x="0" y="0"/>
          <a:ext cx="0" cy="0"/>
          <a:chOff x="0" y="0"/>
          <a:chExt cx="0" cy="0"/>
        </a:xfrm>
      </p:grpSpPr>
      <p:sp>
        <p:nvSpPr>
          <p:cNvPr id="2" name="Shape 0"/>
          <p:cNvSpPr/>
          <p:nvPr/>
        </p:nvSpPr>
        <p:spPr>
          <a:xfrm>
            <a:off x="548640" y="475488"/>
            <a:ext cx="146304" cy="475488"/>
          </a:xfrm>
          <a:prstGeom prst="roundRect">
            <a:avLst>
              <a:gd name="adj" fmla="val 31250"/>
            </a:avLst>
          </a:prstGeom>
          <a:solidFill>
            <a:srgbClr val="1FA463"/>
          </a:solidFill>
          <a:ln/>
        </p:spPr>
      </p:sp>
      <p:sp>
        <p:nvSpPr>
          <p:cNvPr id="3" name="Text 1"/>
          <p:cNvSpPr/>
          <p:nvPr/>
        </p:nvSpPr>
        <p:spPr>
          <a:xfrm>
            <a:off x="841248" y="411480"/>
            <a:ext cx="10789920" cy="640080"/>
          </a:xfrm>
          <a:prstGeom prst="rect">
            <a:avLst/>
          </a:prstGeom>
          <a:noFill/>
          <a:ln/>
        </p:spPr>
        <p:txBody>
          <a:bodyPr wrap="square" lIns="0" tIns="0" rIns="0" bIns="0" rtlCol="0" anchor="ctr"/>
          <a:lstStyle/>
          <a:p>
            <a:pPr indent="0" marL="0">
              <a:buNone/>
            </a:pPr>
            <a:r>
              <a:rPr lang="en-US" sz="2800" b="1" dirty="0">
                <a:solidFill>
                  <a:srgbClr val="0E3A36"/>
                </a:solidFill>
                <a:latin typeface="Calibri" pitchFamily="34" charset="0"/>
                <a:ea typeface="Calibri" pitchFamily="34" charset="-122"/>
                <a:cs typeface="Calibri" pitchFamily="34" charset="-120"/>
              </a:rPr>
              <a:t>Limitaciones y trabajo futuro</a:t>
            </a:r>
            <a:endParaRPr lang="en-US" sz="2800" dirty="0"/>
          </a:p>
        </p:txBody>
      </p:sp>
      <p:sp>
        <p:nvSpPr>
          <p:cNvPr id="4" name="Text 2"/>
          <p:cNvSpPr/>
          <p:nvPr/>
        </p:nvSpPr>
        <p:spPr>
          <a:xfrm>
            <a:off x="548640" y="6437376"/>
            <a:ext cx="5486400" cy="274320"/>
          </a:xfrm>
          <a:prstGeom prst="rect">
            <a:avLst/>
          </a:prstGeom>
          <a:noFill/>
          <a:ln/>
        </p:spPr>
        <p:txBody>
          <a:bodyPr wrap="square" rtlCol="0" anchor="ctr"/>
          <a:lstStyle/>
          <a:p>
            <a:pPr indent="0" marL="0">
              <a:buNone/>
            </a:pPr>
            <a:r>
              <a:rPr lang="en-US" sz="900" dirty="0">
                <a:solidFill>
                  <a:srgbClr val="5E6E6B"/>
                </a:solidFill>
                <a:latin typeface="Calibri" pitchFamily="34" charset="0"/>
                <a:ea typeface="Calibri" pitchFamily="34" charset="-122"/>
                <a:cs typeface="Calibri" pitchFamily="34" charset="-120"/>
              </a:rPr>
              <a:t>EcoAlerta · Trabajo Fin de Grado</a:t>
            </a:r>
            <a:endParaRPr lang="en-US" sz="900" dirty="0"/>
          </a:p>
        </p:txBody>
      </p:sp>
      <p:sp>
        <p:nvSpPr>
          <p:cNvPr id="5" name="Text 3"/>
          <p:cNvSpPr/>
          <p:nvPr/>
        </p:nvSpPr>
        <p:spPr>
          <a:xfrm>
            <a:off x="10725912" y="6437376"/>
            <a:ext cx="914400" cy="274320"/>
          </a:xfrm>
          <a:prstGeom prst="rect">
            <a:avLst/>
          </a:prstGeom>
          <a:noFill/>
          <a:ln/>
        </p:spPr>
        <p:txBody>
          <a:bodyPr wrap="square" rtlCol="0" anchor="ctr"/>
          <a:lstStyle/>
          <a:p>
            <a:pPr algn="r" indent="0" marL="0">
              <a:buNone/>
            </a:pPr>
            <a:r>
              <a:rPr lang="en-US" sz="900" dirty="0">
                <a:solidFill>
                  <a:srgbClr val="5E6E6B"/>
                </a:solidFill>
                <a:latin typeface="Calibri" pitchFamily="34" charset="0"/>
                <a:ea typeface="Calibri" pitchFamily="34" charset="-122"/>
                <a:cs typeface="Calibri" pitchFamily="34" charset="-120"/>
              </a:rPr>
              <a:t>12 / 13</a:t>
            </a:r>
            <a:endParaRPr lang="en-US" sz="900" dirty="0"/>
          </a:p>
        </p:txBody>
      </p:sp>
      <p:sp>
        <p:nvSpPr>
          <p:cNvPr id="6" name="Shape 4"/>
          <p:cNvSpPr/>
          <p:nvPr/>
        </p:nvSpPr>
        <p:spPr>
          <a:xfrm>
            <a:off x="548640" y="1371600"/>
            <a:ext cx="5458968" cy="4800600"/>
          </a:xfrm>
          <a:prstGeom prst="roundRect">
            <a:avLst>
              <a:gd name="adj" fmla="val 1524"/>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7" name="Shape 5"/>
          <p:cNvSpPr/>
          <p:nvPr/>
        </p:nvSpPr>
        <p:spPr>
          <a:xfrm>
            <a:off x="548640" y="1371600"/>
            <a:ext cx="109728" cy="4800600"/>
          </a:xfrm>
          <a:prstGeom prst="rect">
            <a:avLst/>
          </a:prstGeom>
          <a:solidFill>
            <a:srgbClr val="C77F12"/>
          </a:solidFill>
          <a:ln/>
        </p:spPr>
      </p:sp>
      <p:sp>
        <p:nvSpPr>
          <p:cNvPr id="8" name="Text 6"/>
          <p:cNvSpPr/>
          <p:nvPr/>
        </p:nvSpPr>
        <p:spPr>
          <a:xfrm>
            <a:off x="868680" y="1554480"/>
            <a:ext cx="4937760" cy="457200"/>
          </a:xfrm>
          <a:prstGeom prst="rect">
            <a:avLst/>
          </a:prstGeom>
          <a:noFill/>
          <a:ln/>
        </p:spPr>
        <p:txBody>
          <a:bodyPr wrap="square" rtlCol="0" anchor="ctr"/>
          <a:lstStyle/>
          <a:p>
            <a:pPr indent="0" marL="0">
              <a:buNone/>
            </a:pPr>
            <a:r>
              <a:rPr lang="en-US" sz="1800" b="1" dirty="0">
                <a:solidFill>
                  <a:srgbClr val="9A6510"/>
                </a:solidFill>
                <a:latin typeface="Calibri" pitchFamily="34" charset="0"/>
                <a:ea typeface="Calibri" pitchFamily="34" charset="-122"/>
                <a:cs typeface="Calibri" pitchFamily="34" charset="-120"/>
              </a:rPr>
              <a:t>Limitaciones (reconocidas)</a:t>
            </a:r>
            <a:endParaRPr lang="en-US" sz="1800" dirty="0"/>
          </a:p>
        </p:txBody>
      </p:sp>
      <p:sp>
        <p:nvSpPr>
          <p:cNvPr id="9" name="Text 7"/>
          <p:cNvSpPr/>
          <p:nvPr/>
        </p:nvSpPr>
        <p:spPr>
          <a:xfrm>
            <a:off x="868680" y="2148840"/>
            <a:ext cx="4983480" cy="3840480"/>
          </a:xfrm>
          <a:prstGeom prst="rect">
            <a:avLst/>
          </a:prstGeom>
          <a:noFill/>
          <a:ln/>
        </p:spPr>
        <p:txBody>
          <a:bodyPr wrap="square" rtlCol="0" anchor="t"/>
          <a:lstStyle/>
          <a:p>
            <a:pPr marL="342900" indent="-342900">
              <a:spcAft>
                <a:spcPts val="1000"/>
              </a:spcAft>
              <a:buSzPct val="100000"/>
              <a:buChar char="•"/>
            </a:pPr>
            <a:r>
              <a:rPr lang="en-US" sz="1350" dirty="0">
                <a:solidFill>
                  <a:srgbClr val="16302E"/>
                </a:solidFill>
                <a:latin typeface="Calibri" pitchFamily="34" charset="0"/>
                <a:ea typeface="Calibri" pitchFamily="34" charset="-122"/>
                <a:cs typeface="Calibri" pitchFamily="34" charset="-120"/>
              </a:rPr>
              <a:t>Cobertura de ramas (branches) del 39 %, por debajo del objetivo.</a:t>
            </a:r>
            <a:endParaRPr lang="en-US" sz="1350" dirty="0"/>
          </a:p>
          <a:p>
            <a:pPr marL="342900" indent="-342900">
              <a:spcAft>
                <a:spcPts val="1000"/>
              </a:spcAft>
              <a:buSzPct val="100000"/>
              <a:buChar char="•"/>
            </a:pPr>
            <a:r>
              <a:rPr lang="en-US" sz="1350" dirty="0">
                <a:solidFill>
                  <a:srgbClr val="16302E"/>
                </a:solidFill>
                <a:latin typeface="Calibri" pitchFamily="34" charset="0"/>
                <a:ea typeface="Calibri" pitchFamily="34" charset="-122"/>
                <a:cs typeface="Calibri" pitchFamily="34" charset="-120"/>
              </a:rPr>
              <a:t>Recuperación y notificaciones por email sin SMTP real probado.</a:t>
            </a:r>
            <a:endParaRPr lang="en-US" sz="1350" dirty="0"/>
          </a:p>
          <a:p>
            <a:pPr marL="342900" indent="-342900">
              <a:spcAft>
                <a:spcPts val="1000"/>
              </a:spcAft>
              <a:buSzPct val="100000"/>
              <a:buChar char="•"/>
            </a:pPr>
            <a:r>
              <a:rPr lang="en-US" sz="1350" dirty="0">
                <a:solidFill>
                  <a:srgbClr val="16302E"/>
                </a:solidFill>
                <a:latin typeface="Calibri" pitchFamily="34" charset="0"/>
                <a:ea typeface="Calibri" pitchFamily="34" charset="-122"/>
                <a:cs typeface="Calibri" pitchFamily="34" charset="-120"/>
              </a:rPr>
              <a:t>Escalado automático de incidencias diseñado, falta el scheduler.</a:t>
            </a:r>
            <a:endParaRPr lang="en-US" sz="1350" dirty="0"/>
          </a:p>
          <a:p>
            <a:pPr marL="342900" indent="-342900">
              <a:spcAft>
                <a:spcPts val="1000"/>
              </a:spcAft>
              <a:buSzPct val="100000"/>
              <a:buChar char="•"/>
            </a:pPr>
            <a:r>
              <a:rPr lang="en-US" sz="1350" dirty="0">
                <a:solidFill>
                  <a:srgbClr val="16302E"/>
                </a:solidFill>
                <a:latin typeface="Calibri" pitchFamily="34" charset="0"/>
                <a:ea typeface="Calibri" pitchFamily="34" charset="-122"/>
                <a:cs typeface="Calibri" pitchFamily="34" charset="-120"/>
              </a:rPr>
              <a:t>Prueba de carga (100 usuarios) validada por dimensionado teórico.</a:t>
            </a:r>
            <a:endParaRPr lang="en-US" sz="1350" dirty="0"/>
          </a:p>
          <a:p>
            <a:pPr marL="342900" indent="-342900">
              <a:spcAft>
                <a:spcPts val="1000"/>
              </a:spcAft>
              <a:buSzPct val="100000"/>
              <a:buChar char="•"/>
            </a:pPr>
            <a:r>
              <a:rPr lang="en-US" sz="1350" dirty="0">
                <a:solidFill>
                  <a:srgbClr val="16302E"/>
                </a:solidFill>
                <a:latin typeface="Calibri" pitchFamily="34" charset="0"/>
                <a:ea typeface="Calibri" pitchFamily="34" charset="-122"/>
                <a:cs typeface="Calibri" pitchFamily="34" charset="-120"/>
              </a:rPr>
              <a:t>Pruebas de usabilidad con usuarios reales pendientes.</a:t>
            </a:r>
            <a:endParaRPr lang="en-US" sz="1350" dirty="0"/>
          </a:p>
        </p:txBody>
      </p:sp>
      <p:sp>
        <p:nvSpPr>
          <p:cNvPr id="10" name="Shape 8"/>
          <p:cNvSpPr/>
          <p:nvPr/>
        </p:nvSpPr>
        <p:spPr>
          <a:xfrm>
            <a:off x="6181344" y="1371600"/>
            <a:ext cx="5458968" cy="4800600"/>
          </a:xfrm>
          <a:prstGeom prst="roundRect">
            <a:avLst>
              <a:gd name="adj" fmla="val 1524"/>
            </a:avLst>
          </a:prstGeom>
          <a:solidFill>
            <a:srgbClr val="FFFFFF"/>
          </a:solidFill>
          <a:ln w="12700">
            <a:solidFill>
              <a:srgbClr val="E0EBE7"/>
            </a:solidFill>
            <a:prstDash val="solid"/>
          </a:ln>
          <a:effectLst>
            <a:outerShdw sx="100000" sy="100000" kx="0" ky="0" algn="bl" rotWithShape="0" blurRad="88900" dist="38100" dir="8100000">
              <a:srgbClr val="0E3A36">
                <a:alpha val="16000"/>
              </a:srgbClr>
            </a:outerShdw>
          </a:effectLst>
        </p:spPr>
      </p:sp>
      <p:sp>
        <p:nvSpPr>
          <p:cNvPr id="11" name="Shape 9"/>
          <p:cNvSpPr/>
          <p:nvPr/>
        </p:nvSpPr>
        <p:spPr>
          <a:xfrm>
            <a:off x="6181344" y="1371600"/>
            <a:ext cx="109728" cy="4800600"/>
          </a:xfrm>
          <a:prstGeom prst="rect">
            <a:avLst/>
          </a:prstGeom>
          <a:solidFill>
            <a:srgbClr val="1FA463"/>
          </a:solidFill>
          <a:ln/>
        </p:spPr>
      </p:sp>
      <p:sp>
        <p:nvSpPr>
          <p:cNvPr id="12" name="Text 10"/>
          <p:cNvSpPr/>
          <p:nvPr/>
        </p:nvSpPr>
        <p:spPr>
          <a:xfrm>
            <a:off x="6501384" y="1554480"/>
            <a:ext cx="4937760" cy="457200"/>
          </a:xfrm>
          <a:prstGeom prst="rect">
            <a:avLst/>
          </a:prstGeom>
          <a:noFill/>
          <a:ln/>
        </p:spPr>
        <p:txBody>
          <a:bodyPr wrap="square" rtlCol="0" anchor="ctr"/>
          <a:lstStyle/>
          <a:p>
            <a:pPr indent="0" marL="0">
              <a:buNone/>
            </a:pPr>
            <a:r>
              <a:rPr lang="en-US" sz="1800" b="1" dirty="0">
                <a:solidFill>
                  <a:srgbClr val="12693E"/>
                </a:solidFill>
                <a:latin typeface="Calibri" pitchFamily="34" charset="0"/>
                <a:ea typeface="Calibri" pitchFamily="34" charset="-122"/>
                <a:cs typeface="Calibri" pitchFamily="34" charset="-120"/>
              </a:rPr>
              <a:t>Trabajo futuro</a:t>
            </a:r>
            <a:endParaRPr lang="en-US" sz="1800" dirty="0"/>
          </a:p>
        </p:txBody>
      </p:sp>
      <p:sp>
        <p:nvSpPr>
          <p:cNvPr id="13" name="Text 11"/>
          <p:cNvSpPr/>
          <p:nvPr/>
        </p:nvSpPr>
        <p:spPr>
          <a:xfrm>
            <a:off x="6501384" y="2148840"/>
            <a:ext cx="4983480" cy="3840480"/>
          </a:xfrm>
          <a:prstGeom prst="rect">
            <a:avLst/>
          </a:prstGeom>
          <a:noFill/>
          <a:ln/>
        </p:spPr>
        <p:txBody>
          <a:bodyPr wrap="square" rtlCol="0" anchor="t"/>
          <a:lstStyle/>
          <a:p>
            <a:pPr indent="0" marL="0">
              <a:spcAft>
                <a:spcPts val="1200"/>
              </a:spcAft>
              <a:buNone/>
            </a:pPr>
            <a:r>
              <a:rPr lang="en-US" sz="1350" b="1" dirty="0">
                <a:solidFill>
                  <a:srgbClr val="0E3A36"/>
                </a:solidFill>
                <a:latin typeface="Calibri" pitchFamily="34" charset="0"/>
                <a:ea typeface="Calibri" pitchFamily="34" charset="-122"/>
                <a:cs typeface="Calibri" pitchFamily="34" charset="-120"/>
              </a:rPr>
              <a:t>Corto plazo: </a:t>
            </a:r>
            <a:pPr indent="0" marL="0">
              <a:spcAft>
                <a:spcPts val="1200"/>
              </a:spcAft>
              <a:buNone/>
            </a:pPr>
            <a:r>
              <a:rPr lang="en-US" sz="1350" dirty="0">
                <a:solidFill>
                  <a:srgbClr val="16302E"/>
                </a:solidFill>
                <a:latin typeface="Calibri" pitchFamily="34" charset="0"/>
                <a:ea typeface="Calibri" pitchFamily="34" charset="-122"/>
                <a:cs typeface="Calibri" pitchFamily="34" charset="-120"/>
              </a:rPr>
              <a:t>cobertura &gt;80 %, despliegue cloud con HTTPS y backups, scheduler, pruebas de carga (k6).</a:t>
            </a:r>
            <a:endParaRPr lang="en-US" sz="1350" dirty="0"/>
          </a:p>
          <a:p>
            <a:pPr indent="0" marL="0">
              <a:spcAft>
                <a:spcPts val="1200"/>
              </a:spcAft>
              <a:buNone/>
            </a:pPr>
            <a:r>
              <a:rPr lang="en-US" sz="1350" b="1" dirty="0">
                <a:solidFill>
                  <a:srgbClr val="0E3A36"/>
                </a:solidFill>
                <a:latin typeface="Calibri" pitchFamily="34" charset="0"/>
                <a:ea typeface="Calibri" pitchFamily="34" charset="-122"/>
                <a:cs typeface="Calibri" pitchFamily="34" charset="-120"/>
              </a:rPr>
              <a:t>Medio plazo: </a:t>
            </a:r>
            <a:pPr indent="0" marL="0">
              <a:spcAft>
                <a:spcPts val="1200"/>
              </a:spcAft>
              <a:buNone/>
            </a:pPr>
            <a:r>
              <a:rPr lang="en-US" sz="1350" dirty="0">
                <a:solidFill>
                  <a:srgbClr val="16302E"/>
                </a:solidFill>
                <a:latin typeface="Calibri" pitchFamily="34" charset="0"/>
                <a:ea typeface="Calibri" pitchFamily="34" charset="-122"/>
                <a:cs typeface="Calibri" pitchFamily="34" charset="-120"/>
              </a:rPr>
              <a:t>app nativa con React Native; asignación automática por jurisdicción geoespacial; reputación del ciudadano; clasificación de la foto por visión por computador.</a:t>
            </a:r>
            <a:endParaRPr lang="en-US" sz="1350" dirty="0"/>
          </a:p>
          <a:p>
            <a:pPr indent="0" marL="0">
              <a:spcAft>
                <a:spcPts val="1200"/>
              </a:spcAft>
              <a:buNone/>
            </a:pPr>
            <a:r>
              <a:rPr lang="en-US" sz="1350" b="1" dirty="0">
                <a:solidFill>
                  <a:srgbClr val="0E3A36"/>
                </a:solidFill>
                <a:latin typeface="Calibri" pitchFamily="34" charset="0"/>
                <a:ea typeface="Calibri" pitchFamily="34" charset="-122"/>
                <a:cs typeface="Calibri" pitchFamily="34" charset="-120"/>
              </a:rPr>
              <a:t>Largo plazo: </a:t>
            </a:r>
            <a:pPr indent="0" marL="0">
              <a:spcAft>
                <a:spcPts val="1200"/>
              </a:spcAft>
              <a:buNone/>
            </a:pPr>
            <a:r>
              <a:rPr lang="en-US" sz="1350" dirty="0">
                <a:solidFill>
                  <a:srgbClr val="16302E"/>
                </a:solidFill>
                <a:latin typeface="Calibri" pitchFamily="34" charset="0"/>
                <a:ea typeface="Calibri" pitchFamily="34" charset="-122"/>
                <a:cs typeface="Calibri" pitchFamily="34" charset="-120"/>
              </a:rPr>
              <a:t>convenios con ayuntamientos piloto, integración con gestión municipal y modelo de negocio B2G.</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3A36"/>
        </a:solidFill>
      </p:bgPr>
    </p:bg>
    <p:spTree>
      <p:nvGrpSpPr>
        <p:cNvPr id="1" name=""/>
        <p:cNvGrpSpPr/>
        <p:nvPr/>
      </p:nvGrpSpPr>
      <p:grpSpPr>
        <a:xfrm>
          <a:off x="0" y="0"/>
          <a:ext cx="0" cy="0"/>
          <a:chOff x="0" y="0"/>
          <a:chExt cx="0" cy="0"/>
        </a:xfrm>
      </p:grpSpPr>
      <p:sp>
        <p:nvSpPr>
          <p:cNvPr id="2" name="Shape 0"/>
          <p:cNvSpPr/>
          <p:nvPr/>
        </p:nvSpPr>
        <p:spPr>
          <a:xfrm>
            <a:off x="-2011680" y="3657600"/>
            <a:ext cx="5486400" cy="5486400"/>
          </a:xfrm>
          <a:prstGeom prst="ellipse">
            <a:avLst/>
          </a:prstGeom>
          <a:solidFill>
            <a:srgbClr val="12693E">
              <a:alpha val="34000"/>
            </a:srgbClr>
          </a:solidFill>
          <a:ln/>
        </p:spPr>
      </p:sp>
      <p:sp>
        <p:nvSpPr>
          <p:cNvPr id="3" name="Shape 1"/>
          <p:cNvSpPr/>
          <p:nvPr/>
        </p:nvSpPr>
        <p:spPr>
          <a:xfrm>
            <a:off x="9692640" y="-2194560"/>
            <a:ext cx="5120640" cy="5120640"/>
          </a:xfrm>
          <a:prstGeom prst="ellipse">
            <a:avLst/>
          </a:prstGeom>
          <a:solidFill>
            <a:srgbClr val="1C7FE5">
              <a:alpha val="22000"/>
            </a:srgbClr>
          </a:solidFill>
          <a:ln/>
        </p:spPr>
      </p:sp>
      <p:pic>
        <p:nvPicPr>
          <p:cNvPr id="4" name="Image 0" descr="preencoded.png">    </p:cNvPr>
          <p:cNvPicPr>
            <a:picLocks noChangeAspect="1"/>
          </p:cNvPicPr>
          <p:nvPr/>
        </p:nvPicPr>
        <p:blipFill>
          <a:blip r:embed="rId1"/>
          <a:stretch>
            <a:fillRect/>
          </a:stretch>
        </p:blipFill>
        <p:spPr>
          <a:xfrm>
            <a:off x="5728716" y="1097280"/>
            <a:ext cx="731520" cy="731520"/>
          </a:xfrm>
          <a:prstGeom prst="rect">
            <a:avLst/>
          </a:prstGeom>
        </p:spPr>
      </p:pic>
      <p:sp>
        <p:nvSpPr>
          <p:cNvPr id="5" name="Text 2"/>
          <p:cNvSpPr/>
          <p:nvPr/>
        </p:nvSpPr>
        <p:spPr>
          <a:xfrm>
            <a:off x="1097280" y="2148840"/>
            <a:ext cx="9994392" cy="1828800"/>
          </a:xfrm>
          <a:prstGeom prst="rect">
            <a:avLst/>
          </a:prstGeom>
          <a:noFill/>
          <a:ln/>
        </p:spPr>
        <p:txBody>
          <a:bodyPr wrap="square" rtlCol="0" anchor="ctr"/>
          <a:lstStyle/>
          <a:p>
            <a:pPr algn="ctr" indent="0" marL="0">
              <a:buNone/>
            </a:pPr>
            <a:r>
              <a:rPr lang="en-US" sz="2400" i="1" dirty="0">
                <a:solidFill>
                  <a:srgbClr val="FFFFFF"/>
                </a:solidFill>
                <a:latin typeface="Calibri" pitchFamily="34" charset="0"/>
                <a:ea typeface="Calibri" pitchFamily="34" charset="-122"/>
                <a:cs typeface="Calibri" pitchFamily="34" charset="-120"/>
              </a:rPr>
              <a:t>“La diferencia no la marca delegar, sino dirigir bien:</a:t>
            </a:r>
            <a:endParaRPr lang="en-US" sz="2400" dirty="0"/>
          </a:p>
          <a:p>
            <a:pPr algn="ctr" indent="0" marL="0">
              <a:buNone/>
            </a:pPr>
            <a:r>
              <a:rPr lang="en-US" sz="2400" i="1" dirty="0">
                <a:solidFill>
                  <a:srgbClr val="FFFFFF"/>
                </a:solidFill>
                <a:latin typeface="Calibri" pitchFamily="34" charset="0"/>
                <a:ea typeface="Calibri" pitchFamily="34" charset="-122"/>
                <a:cs typeface="Calibri" pitchFamily="34" charset="-120"/>
              </a:rPr>
              <a:t>especificar con precisión, revisar con rigor y firmar el resultado.”</a:t>
            </a:r>
            <a:endParaRPr lang="en-US" sz="2400" dirty="0"/>
          </a:p>
        </p:txBody>
      </p:sp>
      <p:sp>
        <p:nvSpPr>
          <p:cNvPr id="6" name="Shape 3"/>
          <p:cNvSpPr/>
          <p:nvPr/>
        </p:nvSpPr>
        <p:spPr>
          <a:xfrm>
            <a:off x="4997196" y="4206240"/>
            <a:ext cx="2194560" cy="0"/>
          </a:xfrm>
          <a:prstGeom prst="line">
            <a:avLst/>
          </a:prstGeom>
          <a:noFill/>
          <a:ln w="31750">
            <a:solidFill>
              <a:srgbClr val="1FA463"/>
            </a:solidFill>
            <a:prstDash val="solid"/>
          </a:ln>
        </p:spPr>
      </p:sp>
      <p:sp>
        <p:nvSpPr>
          <p:cNvPr id="7" name="Text 4"/>
          <p:cNvSpPr/>
          <p:nvPr/>
        </p:nvSpPr>
        <p:spPr>
          <a:xfrm>
            <a:off x="914400" y="4480560"/>
            <a:ext cx="10360152" cy="640080"/>
          </a:xfrm>
          <a:prstGeom prst="rect">
            <a:avLst/>
          </a:prstGeom>
          <a:noFill/>
          <a:ln/>
        </p:spPr>
        <p:txBody>
          <a:bodyPr wrap="square"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Gracias por su atención</a:t>
            </a:r>
            <a:endParaRPr lang="en-US" sz="3000" dirty="0"/>
          </a:p>
        </p:txBody>
      </p:sp>
      <p:sp>
        <p:nvSpPr>
          <p:cNvPr id="8" name="Text 5"/>
          <p:cNvSpPr/>
          <p:nvPr/>
        </p:nvSpPr>
        <p:spPr>
          <a:xfrm>
            <a:off x="914400" y="5257800"/>
            <a:ext cx="10360152" cy="365760"/>
          </a:xfrm>
          <a:prstGeom prst="rect">
            <a:avLst/>
          </a:prstGeom>
          <a:noFill/>
          <a:ln/>
        </p:spPr>
        <p:txBody>
          <a:bodyPr wrap="square" rtlCol="0" anchor="ctr"/>
          <a:lstStyle/>
          <a:p>
            <a:pPr algn="ctr" indent="0" marL="0">
              <a:buNone/>
            </a:pPr>
            <a:r>
              <a:rPr lang="en-US" sz="1500" dirty="0">
                <a:solidFill>
                  <a:srgbClr val="37C871"/>
                </a:solidFill>
                <a:latin typeface="Calibri" pitchFamily="34" charset="0"/>
                <a:ea typeface="Calibri" pitchFamily="34" charset="-122"/>
                <a:cs typeface="Calibri" pitchFamily="34" charset="-120"/>
              </a:rPr>
              <a:t>github.com/eap59-ua/tfg-medioambiente-ua</a:t>
            </a:r>
            <a:endParaRPr lang="en-US" sz="1500" dirty="0"/>
          </a:p>
        </p:txBody>
      </p:sp>
      <p:sp>
        <p:nvSpPr>
          <p:cNvPr id="9" name="Text 6"/>
          <p:cNvSpPr/>
          <p:nvPr/>
        </p:nvSpPr>
        <p:spPr>
          <a:xfrm>
            <a:off x="914400" y="5943600"/>
            <a:ext cx="10360152" cy="365760"/>
          </a:xfrm>
          <a:prstGeom prst="rect">
            <a:avLst/>
          </a:prstGeom>
          <a:noFill/>
          <a:ln/>
        </p:spPr>
        <p:txBody>
          <a:bodyPr wrap="square" rtlCol="0" anchor="ctr"/>
          <a:lstStyle/>
          <a:p>
            <a:pPr algn="ctr" indent="0" marL="0">
              <a:buNone/>
            </a:pPr>
            <a:r>
              <a:rPr lang="en-US" sz="1200" dirty="0">
                <a:solidFill>
                  <a:srgbClr val="CFE6DE"/>
                </a:solidFill>
                <a:latin typeface="Calibri" pitchFamily="34" charset="0"/>
                <a:ea typeface="Calibri" pitchFamily="34" charset="-122"/>
                <a:cs typeface="Calibri" pitchFamily="34" charset="-120"/>
              </a:rPr>
              <a:t>Erardo Aldana Pessoa · EcoAlerta · TFG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EcoAlerta — Defensa TFG</dc:title>
  <dc:subject>PptxGenJS Presentation</dc:subject>
  <dc:creator>Erardo Aldana Pessoa</dc:creator>
  <cp:lastModifiedBy>Erardo Aldana Pessoa</cp:lastModifiedBy>
  <cp:revision>1</cp:revision>
  <dcterms:created xsi:type="dcterms:W3CDTF">2026-06-04T15:44:06Z</dcterms:created>
  <dcterms:modified xsi:type="dcterms:W3CDTF">2026-06-04T15:44:06Z</dcterms:modified>
</cp:coreProperties>
</file>